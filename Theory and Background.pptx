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4"/>
  </p:sldMasterIdLst>
  <p:notesMasterIdLst>
    <p:notesMasterId r:id="rId3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DA883F-EA5F-468F-90B6-5D8B679FC31D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08296F-1396-4691-BD02-BF9B88E425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7874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Alice has 3 and 5. Tells the world 15. Bob get’s the message 15 and scramble data. Alice has the correct order to get 15 which is 3 and 5. They must choose prime numbers.</a:t>
            </a:r>
          </a:p>
          <a:p>
            <a:r>
              <a:rPr lang="en-GB"/>
              <a:t>Shor’s algorithm put’s the quantum computers in superposition [ staying in multiple states at a time]. Uses Quantum Fourier Transform to keep only right data and left all the noises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8296F-1396-4691-BD02-BF9B88E4251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4924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 = takes the model M, multiply by itself by e times, </a:t>
            </a:r>
            <a:r>
              <a:rPr lang="en-GB" err="1"/>
              <a:t>divdies</a:t>
            </a:r>
            <a:r>
              <a:rPr lang="en-GB"/>
              <a:t> by N and keeps the resultants</a:t>
            </a:r>
            <a:br>
              <a:rPr lang="en-GB"/>
            </a:br>
            <a:r>
              <a:rPr lang="en-GB"/>
              <a:t>you cannot calculate the private key </a:t>
            </a:r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$d$</a:t>
            </a:r>
            <a:r>
              <a:rPr lang="en-GB"/>
              <a:t> unless you know the factors </a:t>
            </a:r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$p$</a:t>
            </a:r>
            <a:r>
              <a:rPr lang="en-GB"/>
              <a:t> and </a:t>
            </a:r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$q$</a:t>
            </a:r>
            <a:r>
              <a:rPr lang="en-GB"/>
              <a:t>. Factoring huge numbers takes standard computers thousands of years, making the message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8296F-1396-4691-BD02-BF9B88E4251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7140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the model we built can be run on a simulator today and moved to a real IBM Quantum or </a:t>
            </a:r>
            <a:r>
              <a:rPr lang="en-GB" err="1"/>
              <a:t>IonQ</a:t>
            </a:r>
            <a:r>
              <a:rPr lang="en-GB"/>
              <a:t> processor tomorrow with minimal code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8296F-1396-4691-BD02-BF9B88E42513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568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499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585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559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177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30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203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683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43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671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716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38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950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2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9BA2CD-B190-C6CE-D234-73317823ED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0213"/>
          <a:stretch>
            <a:fillRect/>
          </a:stretch>
        </p:blipFill>
        <p:spPr>
          <a:xfrm>
            <a:off x="0" y="914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139E09-086A-722B-7485-44BBD84BA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29010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300">
                <a:solidFill>
                  <a:srgbClr val="FFFFFF"/>
                </a:solidFill>
              </a:rPr>
              <a:t>A Quantum and Machine Learning-Based Framework for Secure Regional Communication</a:t>
            </a:r>
            <a:br>
              <a:rPr lang="en-GB" sz="3300">
                <a:solidFill>
                  <a:srgbClr val="FFFFFF"/>
                </a:solidFill>
              </a:rPr>
            </a:br>
            <a:br>
              <a:rPr lang="en-GB" sz="3300">
                <a:solidFill>
                  <a:srgbClr val="FFFFFF"/>
                </a:solidFill>
              </a:rPr>
            </a:br>
            <a:endParaRPr lang="en-GB" sz="33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D9ED06-1BB3-A84E-3086-438717F590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8068" y="3662220"/>
            <a:ext cx="5040785" cy="1724029"/>
          </a:xfrm>
        </p:spPr>
        <p:txBody>
          <a:bodyPr anchor="t">
            <a:normAutofit/>
          </a:bodyPr>
          <a:lstStyle/>
          <a:p>
            <a:r>
              <a:rPr lang="en-GB" sz="2400" dirty="0">
                <a:solidFill>
                  <a:srgbClr val="FFFFFF"/>
                </a:solidFill>
              </a:rPr>
              <a:t>A dive into mathematics and implementations of BB84 model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C81C10-72DA-FCAD-DD64-F40AE0CB3C17}"/>
              </a:ext>
            </a:extLst>
          </p:cNvPr>
          <p:cNvSpPr txBox="1"/>
          <p:nvPr/>
        </p:nvSpPr>
        <p:spPr>
          <a:xfrm>
            <a:off x="6056921" y="4441630"/>
            <a:ext cx="55781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By:</a:t>
            </a:r>
            <a:br>
              <a:rPr lang="en-GB" dirty="0"/>
            </a:br>
            <a:br>
              <a:rPr lang="en-GB" dirty="0"/>
            </a:br>
            <a:r>
              <a:rPr lang="en-GB" b="1" dirty="0"/>
              <a:t>SOWMIK BARUA</a:t>
            </a:r>
            <a:br>
              <a:rPr lang="en-GB" b="1" dirty="0"/>
            </a:br>
            <a:r>
              <a:rPr lang="en-GB" b="1" dirty="0"/>
              <a:t>I.D : 22-49143-3</a:t>
            </a:r>
            <a:br>
              <a:rPr lang="en-GB" dirty="0"/>
            </a:br>
            <a:r>
              <a:rPr lang="en-GB" dirty="0"/>
              <a:t>Department of Electrical and Electronics Engineering</a:t>
            </a:r>
            <a:br>
              <a:rPr lang="en-GB" dirty="0"/>
            </a:br>
            <a:r>
              <a:rPr lang="en-GB" dirty="0"/>
              <a:t>Faculty of Engineering</a:t>
            </a:r>
            <a:br>
              <a:rPr lang="en-GB" dirty="0"/>
            </a:br>
            <a:r>
              <a:rPr lang="en-GB" dirty="0"/>
              <a:t>American International University-Bangladesh</a:t>
            </a:r>
          </a:p>
        </p:txBody>
      </p:sp>
    </p:spTree>
    <p:extLst>
      <p:ext uri="{BB962C8B-B14F-4D97-AF65-F5344CB8AC3E}">
        <p14:creationId xmlns:p14="http://schemas.microsoft.com/office/powerpoint/2010/main" val="3856249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op view of wood desk with the plant, white keyboard, coffee in a white mug, notebook, and pen">
            <a:extLst>
              <a:ext uri="{FF2B5EF4-FFF2-40B4-BE49-F238E27FC236}">
                <a16:creationId xmlns:a16="http://schemas.microsoft.com/office/drawing/2014/main" id="{B1109C09-6516-98FB-8E8C-FCEDC7F64D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89" r="-1" b="15163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37992A9-1E8C-4E57-B4F4-EE2D38E50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146298-C062-4CEE-FBC5-F0BF4842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7"/>
            <a:ext cx="5021182" cy="33095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Table of Contents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3D7AF1-9C01-28EA-3252-0B0EBC17C96E}"/>
              </a:ext>
            </a:extLst>
          </p:cNvPr>
          <p:cNvSpPr txBox="1"/>
          <p:nvPr/>
        </p:nvSpPr>
        <p:spPr>
          <a:xfrm>
            <a:off x="514822" y="2897650"/>
            <a:ext cx="629629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sz="2000"/>
              <a:t>Introduction &amp; Project Evolution</a:t>
            </a:r>
          </a:p>
          <a:p>
            <a:pPr marL="342900" indent="-342900">
              <a:buAutoNum type="arabicPeriod"/>
            </a:pPr>
            <a:r>
              <a:rPr lang="en-GB" sz="2000"/>
              <a:t>Fragility of Classical Cryptography</a:t>
            </a:r>
          </a:p>
          <a:p>
            <a:pPr marL="342900" indent="-342900">
              <a:buAutoNum type="arabicPeriod"/>
            </a:pPr>
            <a:r>
              <a:rPr lang="en-GB" sz="2000"/>
              <a:t>Quantum Foundations</a:t>
            </a:r>
          </a:p>
          <a:p>
            <a:pPr marL="342900" indent="-342900">
              <a:buAutoNum type="arabicPeriod"/>
            </a:pPr>
            <a:r>
              <a:rPr lang="en-GB" sz="2000"/>
              <a:t>The Core Protocol: BB84 Mechanics</a:t>
            </a:r>
          </a:p>
          <a:p>
            <a:pPr marL="342900" indent="-342900">
              <a:buAutoNum type="arabicPeriod"/>
            </a:pPr>
            <a:r>
              <a:rPr lang="en-GB" sz="2000"/>
              <a:t>Methodology</a:t>
            </a:r>
          </a:p>
          <a:p>
            <a:pPr marL="342900" indent="-342900">
              <a:buAutoNum type="arabicPeriod"/>
            </a:pPr>
            <a:r>
              <a:rPr lang="en-GB" sz="2000"/>
              <a:t>System Architecture</a:t>
            </a:r>
          </a:p>
          <a:p>
            <a:pPr marL="342900" indent="-342900">
              <a:buAutoNum type="arabicPeriod"/>
            </a:pPr>
            <a:r>
              <a:rPr lang="en-GB" sz="2000"/>
              <a:t>Implementation</a:t>
            </a:r>
          </a:p>
          <a:p>
            <a:pPr marL="342900" indent="-342900">
              <a:buAutoNum type="arabicPeriod"/>
            </a:pPr>
            <a:r>
              <a:rPr lang="en-GB" sz="2000"/>
              <a:t>Results: The Self-Healing Network</a:t>
            </a:r>
          </a:p>
          <a:p>
            <a:pPr marL="342900" indent="-342900">
              <a:buAutoNum type="arabicPeriod"/>
            </a:pPr>
            <a:r>
              <a:rPr lang="en-GB" sz="2000"/>
              <a:t>Novelty of the Project</a:t>
            </a:r>
          </a:p>
          <a:p>
            <a:pPr marL="342900" indent="-342900">
              <a:buAutoNum type="arabicPeriod"/>
            </a:pPr>
            <a:r>
              <a:rPr lang="en-GB" sz="2000"/>
              <a:t>Limitations, Sustainability and Ethical Concerns</a:t>
            </a:r>
          </a:p>
          <a:p>
            <a:pPr marL="342900" indent="-342900">
              <a:buAutoNum type="arabicPeriod"/>
            </a:pPr>
            <a:r>
              <a:rPr lang="en-GB" sz="2000"/>
              <a:t>Conclusion</a:t>
            </a:r>
          </a:p>
          <a:p>
            <a:pPr marL="342900" indent="-342900">
              <a:buAutoNum type="arabicPeriod"/>
            </a:pPr>
            <a:r>
              <a:rPr lang="en-GB" sz="200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9913583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653AE3C-AC4F-907C-B473-B9A30D215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81933E-93BD-38CE-3C98-D10B2844C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1299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3B7A5C-39EE-77A0-28F9-DF5137231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611650"/>
            <a:ext cx="703173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608B40-C9F8-4DEB-B61F-2FAACAC1F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410712" cy="5376672"/>
          </a:xfrm>
        </p:spPr>
        <p:txBody>
          <a:bodyPr>
            <a:normAutofit/>
          </a:bodyPr>
          <a:lstStyle/>
          <a:p>
            <a:r>
              <a:rPr lang="en-GB" sz="4000"/>
              <a:t>Introduction and Project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FA9CC-8E72-DCEC-17CB-4489AF9D7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6008" y="1042416"/>
            <a:ext cx="7031736" cy="5312664"/>
          </a:xfrm>
        </p:spPr>
        <p:txBody>
          <a:bodyPr>
            <a:normAutofit/>
          </a:bodyPr>
          <a:lstStyle/>
          <a:p>
            <a:r>
              <a:rPr lang="en-GB"/>
              <a:t>Acknowledgement of the feedback from the Pre- </a:t>
            </a:r>
            <a:r>
              <a:rPr lang="en-GB" err="1"/>
              <a:t>defense</a:t>
            </a:r>
            <a:endParaRPr lang="en-GB"/>
          </a:p>
          <a:p>
            <a:r>
              <a:rPr lang="en-GB"/>
              <a:t>The Previous idea was shifted to purely BB84 model instead of just enhancing previous encryption systems</a:t>
            </a:r>
          </a:p>
          <a:p>
            <a:r>
              <a:rPr lang="en-GB"/>
              <a:t>The main idea is to design a BB84 model from scratch with a self-healing system</a:t>
            </a:r>
          </a:p>
          <a:p>
            <a:r>
              <a:rPr lang="en-GB"/>
              <a:t>The robustness of BB84 is determined by the physical laws of quantum world rather than complex mathematical equations are used in current encryption systems [1]</a:t>
            </a:r>
          </a:p>
          <a:p>
            <a:r>
              <a:rPr lang="en-GB"/>
              <a:t>One simple example is RSA encryption protocol uses Integer factorization[2]</a:t>
            </a:r>
          </a:p>
          <a:p>
            <a:r>
              <a:rPr lang="en-GB"/>
              <a:t>Shor’s algorithm in quantum computing can break this RSA encryption[3]</a:t>
            </a:r>
          </a:p>
          <a:p>
            <a:r>
              <a:rPr lang="en-GB"/>
              <a:t>Proposed to re-route due to High QBER using Dijkstra Algorithm</a:t>
            </a:r>
          </a:p>
        </p:txBody>
      </p:sp>
    </p:spTree>
    <p:extLst>
      <p:ext uri="{BB962C8B-B14F-4D97-AF65-F5344CB8AC3E}">
        <p14:creationId xmlns:p14="http://schemas.microsoft.com/office/powerpoint/2010/main" val="1842233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FDDBB-998C-FD28-CD27-D44A1C60B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Fragility of Classical Cryptography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65FCCE-C2F0-E952-30C2-07305AEE49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8160" y="1926379"/>
                <a:ext cx="11155680" cy="376732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GB"/>
                  <a:t>Let’s analysis RSA model in the words of Mathematics</a:t>
                </a:r>
              </a:p>
              <a:p>
                <a:r>
                  <a:rPr lang="en-GB"/>
                  <a:t>Two prime number p and q are selected. Now, new prime N = (p x q). This new prime number has two multipliers only and they are p and q.</a:t>
                </a:r>
              </a:p>
              <a:p>
                <a:r>
                  <a:rPr lang="en-GB"/>
                  <a:t>We need a secret key. Let’s name it d.</a:t>
                </a:r>
              </a:p>
              <a:p>
                <a:pPr marL="0" indent="0">
                  <a:buNone/>
                </a:pPr>
                <a:r>
                  <a:rPr lang="en-GB"/>
                  <a:t>                                   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 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b="1"/>
                  <a:t>Φ</a:t>
                </a:r>
                <a:r>
                  <a:rPr lang="en-GB" b="1"/>
                  <a:t> </a:t>
                </a:r>
                <a:r>
                  <a:rPr lang="en-GB"/>
                  <a:t>(N))        [</a:t>
                </a:r>
                <a:r>
                  <a:rPr lang="el-GR"/>
                  <a:t>Φ</a:t>
                </a:r>
                <a:r>
                  <a:rPr lang="en-GB"/>
                  <a:t> (N) = (p-1) (q-1) ]</a:t>
                </a:r>
              </a:p>
              <a:p>
                <a:pPr marL="0" indent="0">
                  <a:buNone/>
                </a:pPr>
                <a:r>
                  <a:rPr lang="en-GB"/>
                  <a:t>When d is multiplied by e, the remained in 1 when divided by N</a:t>
                </a:r>
              </a:p>
              <a:p>
                <a:r>
                  <a:rPr lang="en-GB"/>
                  <a:t>Encryptions Message, C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r>
                  <a:rPr lang="en-GB"/>
                  <a:t> (mod (N)) [ M &lt; N ] </a:t>
                </a:r>
              </a:p>
              <a:p>
                <a:r>
                  <a:rPr lang="en-GB"/>
                  <a:t>Public Keys are N and e. </a:t>
                </a:r>
              </a:p>
              <a:p>
                <a:r>
                  <a:rPr lang="en-GB"/>
                  <a:t>Private key is d.</a:t>
                </a:r>
              </a:p>
              <a:p>
                <a:r>
                  <a:rPr lang="en-GB"/>
                  <a:t>Decryption Message,  M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GB"/>
                  <a:t> (mod (N))</a:t>
                </a:r>
              </a:p>
              <a:p>
                <a:pPr marL="0" indent="0">
                  <a:buNone/>
                </a:pPr>
                <a:endParaRPr lang="en-GB"/>
              </a:p>
              <a:p>
                <a:endParaRPr lang="en-GB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65FCCE-C2F0-E952-30C2-07305AEE49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8160" y="1926379"/>
                <a:ext cx="11155680" cy="3767328"/>
              </a:xfrm>
              <a:blipFill>
                <a:blip r:embed="rId3"/>
                <a:stretch>
                  <a:fillRect l="-383" t="-647" b="-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217B019-AE98-ACB8-3923-BF2F3FD828DF}"/>
              </a:ext>
            </a:extLst>
          </p:cNvPr>
          <p:cNvSpPr txBox="1"/>
          <p:nvPr/>
        </p:nvSpPr>
        <p:spPr>
          <a:xfrm>
            <a:off x="7117080" y="2684563"/>
            <a:ext cx="3261360" cy="18928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100"/>
              <a:t>p = 3 and q = 5</a:t>
            </a:r>
          </a:p>
          <a:p>
            <a:r>
              <a:rPr lang="en-GB" sz="1100"/>
              <a:t>N = 15</a:t>
            </a:r>
          </a:p>
          <a:p>
            <a:r>
              <a:rPr lang="el-GR" sz="1100" b="1"/>
              <a:t>Φ</a:t>
            </a:r>
            <a:r>
              <a:rPr lang="en-GB" sz="1100" b="1"/>
              <a:t> </a:t>
            </a:r>
            <a:r>
              <a:rPr lang="en-GB" sz="1100"/>
              <a:t>(N) = (p-1) (q-1) = 8</a:t>
            </a:r>
          </a:p>
          <a:p>
            <a:r>
              <a:rPr lang="en-GB" sz="1100"/>
              <a:t>e  should be 1&lt;e&lt;8 by removing factors of 8</a:t>
            </a:r>
          </a:p>
          <a:p>
            <a:r>
              <a:rPr lang="en-GB" sz="1100"/>
              <a:t>Thus, e could be 3, 5, 7. Considering, e = 3.</a:t>
            </a:r>
          </a:p>
          <a:p>
            <a:r>
              <a:rPr lang="en-GB" sz="1100" b="1" u="sng"/>
              <a:t>e. d = 1 (mod 8) [ This must validate ]</a:t>
            </a:r>
          </a:p>
          <a:p>
            <a:br>
              <a:rPr lang="en-GB" sz="1100"/>
            </a:br>
            <a:r>
              <a:rPr lang="en-GB" sz="1100"/>
              <a:t>if d is 3, then (3 x 3) = 9. By dividing by 8 we get 1. Condition is satisfied.</a:t>
            </a:r>
          </a:p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D105E0-D670-2B88-E800-261BFAF5175A}"/>
                  </a:ext>
                </a:extLst>
              </p:cNvPr>
              <p:cNvSpPr txBox="1"/>
              <p:nvPr/>
            </p:nvSpPr>
            <p:spPr>
              <a:xfrm>
                <a:off x="7117080" y="4704914"/>
                <a:ext cx="3261360" cy="6001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100" b="1"/>
                  <a:t>Encryption</a:t>
                </a:r>
              </a:p>
              <a:p>
                <a:r>
                  <a:rPr lang="en-GB" sz="1100"/>
                  <a:t>C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1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 15)</m:t>
                    </m:r>
                  </m:oMath>
                </a14:m>
                <a:r>
                  <a:rPr lang="en-GB" sz="1100"/>
                  <a:t> </a:t>
                </a:r>
              </a:p>
              <a:p>
                <a:r>
                  <a:rPr lang="en-GB" sz="1100"/>
                  <a:t>C = 8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D105E0-D670-2B88-E800-261BFAF51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7080" y="4704914"/>
                <a:ext cx="3261360" cy="600164"/>
              </a:xfrm>
              <a:prstGeom prst="rect">
                <a:avLst/>
              </a:prstGeom>
              <a:blipFill>
                <a:blip r:embed="rId4"/>
                <a:stretch>
                  <a:fillRect b="-6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B0A854D-08E2-7289-680A-56661B1DEB66}"/>
                  </a:ext>
                </a:extLst>
              </p:cNvPr>
              <p:cNvSpPr txBox="1"/>
              <p:nvPr/>
            </p:nvSpPr>
            <p:spPr>
              <a:xfrm>
                <a:off x="7096225" y="5401563"/>
                <a:ext cx="3261360" cy="127727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100" b="1"/>
                  <a:t>Decryption</a:t>
                </a:r>
              </a:p>
              <a:p>
                <a:r>
                  <a:rPr lang="en-GB" sz="1100"/>
                  <a:t>M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1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 15)</m:t>
                    </m:r>
                  </m:oMath>
                </a14:m>
                <a:r>
                  <a:rPr lang="en-GB" sz="1100"/>
                  <a:t> </a:t>
                </a:r>
              </a:p>
              <a:p>
                <a:endParaRPr lang="en-GB" sz="1100"/>
              </a:p>
              <a:p>
                <a:r>
                  <a:rPr lang="en-GB" sz="1100"/>
                  <a:t>521/ 15 = 34.133 [ Kept it]</a:t>
                </a:r>
              </a:p>
              <a:p>
                <a:r>
                  <a:rPr lang="en-GB" sz="1100"/>
                  <a:t>34.133/15 = 2.27 or 2 [can’t be divided further]</a:t>
                </a:r>
              </a:p>
              <a:p>
                <a:br>
                  <a:rPr lang="en-GB" sz="1100"/>
                </a:br>
                <a:r>
                  <a:rPr lang="en-GB" sz="1100"/>
                  <a:t>So, the message is 2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B0A854D-08E2-7289-680A-56661B1DE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225" y="5401563"/>
                <a:ext cx="3261360" cy="1277273"/>
              </a:xfrm>
              <a:prstGeom prst="rect">
                <a:avLst/>
              </a:prstGeom>
              <a:blipFill>
                <a:blip r:embed="rId5"/>
                <a:stretch>
                  <a:fillRect b="-188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7580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4CC72-82D1-F010-313A-46A88FE67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Fragility of Classical Cryptography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77B114-E40B-D180-28BD-96EEBDA528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1792" y="1864540"/>
                <a:ext cx="11155680" cy="4737428"/>
              </a:xfrm>
            </p:spPr>
            <p:txBody>
              <a:bodyPr/>
              <a:lstStyle/>
              <a:p>
                <a:r>
                  <a:rPr lang="en-GB"/>
                  <a:t>Let’s analysis how </a:t>
                </a:r>
                <a:r>
                  <a:rPr lang="en-GB" err="1"/>
                  <a:t>shor’s</a:t>
                </a:r>
                <a:r>
                  <a:rPr lang="en-GB"/>
                  <a:t> algorithm cracks it with ease. </a:t>
                </a:r>
              </a:p>
              <a:p>
                <a:r>
                  <a:rPr lang="en-GB"/>
                  <a:t>Initialize two quantum registers. The first is a superposition of all integers x, and the second is set to 0.</a:t>
                </a:r>
              </a:p>
              <a:p>
                <a:endParaRPr lang="en-GB"/>
              </a:p>
              <a:p>
                <a:endParaRPr lang="en-GB"/>
              </a:p>
              <a:p>
                <a:r>
                  <a:rPr lang="en-GB"/>
                  <a:t>Apply a unitary transformation </a:t>
                </a:r>
                <a:r>
                  <a:rPr lang="en-GB" err="1"/>
                  <a:t>Uf</a:t>
                </a:r>
                <a:r>
                  <a:rPr lang="en-GB"/>
                  <a:t> that maps |x&gt; |0&gt; </a:t>
                </a:r>
                <a:r>
                  <a:rPr lang="en-GB">
                    <a:sym typeface="Wingdings" panose="05000000000000000000" pitchFamily="2" charset="2"/>
                  </a:rPr>
                  <a:t> </a:t>
                </a:r>
                <a:r>
                  <a:rPr lang="en-GB"/>
                  <a:t>to |x&gt; |f(x)&gt; [ f(x)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GB"/>
                  <a:t> </a:t>
                </a:r>
              </a:p>
              <a:p>
                <a:r>
                  <a:rPr lang="en-GB"/>
                  <a:t>This “a” is any random integer. And r is the period. Now p and q can be found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GB"/>
              </a:p>
              <a:p>
                <a:r>
                  <a:rPr lang="en-GB"/>
                  <a:t>Let’s consider a random number 7</a:t>
                </a:r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endParaRPr lang="en-GB"/>
              </a:p>
              <a:p>
                <a14:m>
                  <m:oMath xmlns:m="http://schemas.openxmlformats.org/officeDocument/2006/math">
                    <a:fld id="{825F15A7-03F4-43D7-82C5-3E23DA2F108C}" type="mathplaceholder">
                      <a:rPr lang="en-GB" i="1" smtClean="0">
                        <a:latin typeface="Cambria Math" panose="02040503050406030204" pitchFamily="18" charset="0"/>
                      </a:rPr>
                      <a:t>Type equation here.</a:t>
                    </a:fld>
                  </m:oMath>
                </a14:m>
                <a:endParaRPr lang="en-GB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77B114-E40B-D180-28BD-96EEBDA528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1792" y="1864540"/>
                <a:ext cx="11155680" cy="4737428"/>
              </a:xfrm>
              <a:blipFill>
                <a:blip r:embed="rId2"/>
                <a:stretch>
                  <a:fillRect l="-328" t="-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8A0CAF0-A6D4-DA0B-2B99-6BB92E991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409" y="2744872"/>
            <a:ext cx="1915223" cy="6384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B42E9B-6525-91A0-9F2C-B6B7E3007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958" y="4921081"/>
            <a:ext cx="3051250" cy="15958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4644133-C09F-4FBD-ACBE-19EC09B994BB}"/>
                  </a:ext>
                </a:extLst>
              </p:cNvPr>
              <p:cNvSpPr txBox="1"/>
              <p:nvPr/>
            </p:nvSpPr>
            <p:spPr>
              <a:xfrm>
                <a:off x="5013210" y="4870189"/>
                <a:ext cx="3819893" cy="122841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100"/>
                  <a:t>We found the period, r = 4</a:t>
                </a:r>
              </a:p>
              <a:p>
                <a:r>
                  <a:rPr lang="en-GB" sz="1100"/>
                  <a:t>So, p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1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4/2</m:t>
                        </m:r>
                      </m:sup>
                    </m:sSup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sz="1100"/>
                  <a:t> = 48</a:t>
                </a:r>
              </a:p>
              <a:p>
                <a:r>
                  <a:rPr lang="en-GB" sz="1100"/>
                  <a:t>And q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1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+1=50</m:t>
                    </m:r>
                  </m:oMath>
                </a14:m>
                <a:r>
                  <a:rPr lang="en-GB" sz="1100"/>
                  <a:t> </a:t>
                </a:r>
              </a:p>
              <a:p>
                <a:endParaRPr lang="en-GB" sz="1100"/>
              </a:p>
              <a:p>
                <a:r>
                  <a:rPr lang="en-GB" sz="1100"/>
                  <a:t>GCD of 48 and 15 is 3 [which is the actual p]</a:t>
                </a:r>
              </a:p>
              <a:p>
                <a:r>
                  <a:rPr lang="en-GB" sz="1100"/>
                  <a:t>GCD of 50 and 15 is 5 [which is the actual q</a:t>
                </a:r>
                <a:r>
                  <a:rPr lang="en-GB"/>
                  <a:t>]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4644133-C09F-4FBD-ACBE-19EC09B99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210" y="4870189"/>
                <a:ext cx="3819893" cy="1228413"/>
              </a:xfrm>
              <a:prstGeom prst="rect">
                <a:avLst/>
              </a:prstGeom>
              <a:blipFill>
                <a:blip r:embed="rId5"/>
                <a:stretch>
                  <a:fillRect b="-640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1691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077BC-3D4F-70B3-A678-48B3A2587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Quantum Foundations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B179F1-522F-D536-B360-817A49FFD1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2232" y="1874520"/>
                <a:ext cx="11676888" cy="4382622"/>
              </a:xfrm>
            </p:spPr>
            <p:txBody>
              <a:bodyPr>
                <a:normAutofit/>
              </a:bodyPr>
              <a:lstStyle/>
              <a:p>
                <a:r>
                  <a:rPr lang="en-GB" b="1" i="0" err="1">
                    <a:effectLst/>
                    <a:latin typeface="+mj-lt"/>
                  </a:rPr>
                  <a:t>Superposition:</a:t>
                </a:r>
                <a:r>
                  <a:rPr lang="en-GB" b="0" i="0" err="1">
                    <a:effectLst/>
                    <a:latin typeface="+mj-lt"/>
                  </a:rPr>
                  <a:t>In</a:t>
                </a:r>
                <a:r>
                  <a:rPr lang="en-GB" b="0" i="0">
                    <a:effectLst/>
                    <a:latin typeface="+mj-lt"/>
                  </a:rPr>
                  <a:t>  quantum mechanics, superposition refers to a qubit's ability to be in a linear combination of the basis states 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ar-AE" b="0" i="0">
                    <a:effectLst/>
                    <a:latin typeface="+mj-lt"/>
                  </a:rPr>
                  <a:t> </a:t>
                </a:r>
                <a:r>
                  <a:rPr lang="en-GB" b="0" i="0">
                    <a:effectLst/>
                    <a:latin typeface="+mj-lt"/>
                  </a:rPr>
                  <a:t>and 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ar-AE" b="0" i="0">
                    <a:effectLst/>
                    <a:latin typeface="+mj-lt"/>
                  </a:rPr>
                  <a:t>. </a:t>
                </a:r>
                <a:r>
                  <a:rPr lang="en-GB" b="0" i="0">
                    <a:effectLst/>
                    <a:latin typeface="+mj-lt"/>
                  </a:rPr>
                  <a:t>Mathematically, this can be expressed as:  </a:t>
                </a:r>
                <a:r>
                  <a:rPr lang="el-GR">
                    <a:latin typeface="Roboto" panose="02000000000000000000" pitchFamily="2" charset="0"/>
                  </a:rPr>
                  <a:t>∣ψ⟩=α∣0⟩+β∣1⟩</a:t>
                </a:r>
                <a:r>
                  <a:rPr lang="en-GB">
                    <a:latin typeface="Roboto" panose="02000000000000000000" pitchFamily="2" charset="0"/>
                  </a:rPr>
                  <a:t>, where α and  β are complex coefficients that determine the probability amplitudes of measuring the qubit in either state.</a:t>
                </a:r>
              </a:p>
              <a:p>
                <a:pPr>
                  <a:lnSpc>
                    <a:spcPts val="2100"/>
                  </a:lnSpc>
                </a:pPr>
                <a:r>
                  <a:rPr lang="en-GB" b="1" i="0">
                    <a:effectLst/>
                    <a:latin typeface="Roboto" panose="02000000000000000000" pitchFamily="2" charset="0"/>
                  </a:rPr>
                  <a:t>Visualization</a:t>
                </a:r>
                <a:r>
                  <a:rPr lang="en-GB" b="0" i="0">
                    <a:effectLst/>
                    <a:latin typeface="Roboto" panose="02000000000000000000" pitchFamily="2" charset="0"/>
                  </a:rPr>
                  <a:t>: On the Bloch Sphere, the state 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ar-AE" b="0" i="0">
                    <a:effectLst/>
                    <a:latin typeface="Roboto" panose="02000000000000000000" pitchFamily="2" charset="0"/>
                  </a:rPr>
                  <a:t> </a:t>
                </a:r>
                <a:r>
                  <a:rPr lang="en-GB" b="0" i="0">
                    <a:effectLst/>
                    <a:latin typeface="Roboto" panose="02000000000000000000" pitchFamily="2" charset="0"/>
                  </a:rPr>
                  <a:t>can be represented by a point defined by two angles, 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b="0" i="0">
                    <a:effectLst/>
                    <a:latin typeface="Roboto" panose="02000000000000000000" pitchFamily="2" charset="0"/>
                  </a:rPr>
                  <a:t> (the polar angle) and 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GB" b="0" i="0">
                    <a:effectLst/>
                    <a:latin typeface="Roboto" panose="02000000000000000000" pitchFamily="2" charset="0"/>
                  </a:rPr>
                  <a:t> (the azimuthal angle). The coordinates of this point can be expressed as:  </a:t>
                </a:r>
              </a:p>
              <a:p>
                <a:pPr marL="0" indent="0">
                  <a:lnSpc>
                    <a:spcPts val="2100"/>
                  </a:lnSpc>
                  <a:buNone/>
                </a:pPr>
                <a:r>
                  <a:rPr lang="en-GB">
                    <a:latin typeface="Roboto" panose="02000000000000000000" pitchFamily="2" charset="0"/>
                  </a:rPr>
                  <a:t>			</a:t>
                </a:r>
                <a:r>
                  <a:rPr lang="es-ES"/>
                  <a:t>x=sin(θ)cos(ϕ);   y=sin(θ)sin(ϕ);   </a:t>
                </a:r>
                <a:r>
                  <a:rPr lang="en-GB"/>
                  <a:t>z=cos(</a:t>
                </a:r>
                <a:r>
                  <a:rPr lang="el-GR"/>
                  <a:t>θ)</a:t>
                </a:r>
                <a:endParaRPr lang="en-GB"/>
              </a:p>
              <a:p>
                <a:pPr>
                  <a:lnSpc>
                    <a:spcPts val="2100"/>
                  </a:lnSpc>
                </a:pPr>
                <a:r>
                  <a:rPr lang="en-GB"/>
                  <a:t>Bloch Sphere to represent states (for simplicity let’s say position) of quantum.</a:t>
                </a:r>
              </a:p>
              <a:p>
                <a:pPr>
                  <a:lnSpc>
                    <a:spcPts val="2100"/>
                  </a:lnSpc>
                </a:pPr>
                <a:r>
                  <a:rPr lang="en-GB" b="1"/>
                  <a:t>Computational Bases (z) : </a:t>
                </a:r>
                <a:r>
                  <a:rPr lang="en-GB"/>
                  <a:t>Represented by states |0&gt; and |1&gt;</a:t>
                </a:r>
              </a:p>
              <a:p>
                <a:pPr>
                  <a:lnSpc>
                    <a:spcPts val="2100"/>
                  </a:lnSpc>
                </a:pPr>
                <a:r>
                  <a:rPr lang="en-GB" b="1"/>
                  <a:t>Diagonal Bases (x): </a:t>
                </a:r>
                <a:r>
                  <a:rPr lang="en-GB"/>
                  <a:t>Represented by states |x&gt; and |y&gt;</a:t>
                </a:r>
              </a:p>
              <a:p>
                <a:pPr>
                  <a:lnSpc>
                    <a:spcPts val="2100"/>
                  </a:lnSpc>
                </a:pPr>
                <a:r>
                  <a:rPr lang="en-GB" b="1"/>
                  <a:t>Hadamard Gates: </a:t>
                </a:r>
                <a:r>
                  <a:rPr lang="en-GB"/>
                  <a:t>It is to switch between two non-orthogonal bases.</a:t>
                </a:r>
              </a:p>
              <a:p>
                <a:pPr>
                  <a:lnSpc>
                    <a:spcPts val="2100"/>
                  </a:lnSpc>
                </a:pPr>
                <a:r>
                  <a:rPr lang="en-GB" b="1"/>
                  <a:t>Pauli-X Gates: </a:t>
                </a:r>
                <a:r>
                  <a:rPr lang="en-GB"/>
                  <a:t>Equivalent to classical NOT gate.</a:t>
                </a:r>
              </a:p>
              <a:p>
                <a:pPr>
                  <a:lnSpc>
                    <a:spcPts val="2100"/>
                  </a:lnSpc>
                </a:pPr>
                <a:endParaRPr lang="es-ES"/>
              </a:p>
              <a:p>
                <a:pPr algn="l">
                  <a:lnSpc>
                    <a:spcPts val="2100"/>
                  </a:lnSpc>
                  <a:buFont typeface="Arial" panose="020B0604020202020204" pitchFamily="34" charset="0"/>
                  <a:buChar char="•"/>
                </a:pPr>
                <a:endParaRPr lang="en-GB" sz="1200" b="0" i="0">
                  <a:effectLst/>
                  <a:latin typeface="Roboto" panose="02000000000000000000" pitchFamily="2" charset="0"/>
                </a:endParaRPr>
              </a:p>
              <a:p>
                <a:endParaRPr lang="en-GB" sz="1200">
                  <a:latin typeface="+mj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B179F1-522F-D536-B360-817A49FFD1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2232" y="1874520"/>
                <a:ext cx="11676888" cy="4382622"/>
              </a:xfrm>
              <a:blipFill>
                <a:blip r:embed="rId2"/>
                <a:stretch>
                  <a:fillRect l="-418" t="-3064" r="-209" b="-10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6" name="Picture 4" descr="Bloch sphere | Prefetch">
            <a:extLst>
              <a:ext uri="{FF2B5EF4-FFF2-40B4-BE49-F238E27FC236}">
                <a16:creationId xmlns:a16="http://schemas.microsoft.com/office/drawing/2014/main" id="{585DC30A-2CF1-A126-7A44-2DB22D87B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7917" y="3911947"/>
            <a:ext cx="2564651" cy="2564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035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A9772-9FE9-626F-91BD-3CA7DAED3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Quantum Foundations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DDD45-2270-5562-A954-A76EF1D7B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/>
              <a:t>The Hadamard Gate:</a:t>
            </a:r>
          </a:p>
          <a:p>
            <a:r>
              <a:rPr lang="en-GB"/>
              <a:t>For our understanding Alice is the sender and Bob is the receiver.</a:t>
            </a:r>
          </a:p>
          <a:p>
            <a:r>
              <a:rPr lang="en-GB"/>
              <a:t>For Alice to send |+&gt; or |-&gt;. she uses H gate to |0&gt; or |1&gt;, And the other way around</a:t>
            </a:r>
          </a:p>
          <a:p>
            <a:r>
              <a:rPr lang="en-GB"/>
              <a:t>If Bob as a receiver wants to measure in the diagonal state, Bob applies H gate in the incoming qubits</a:t>
            </a:r>
          </a:p>
          <a:p>
            <a:pPr marL="0" indent="0">
              <a:buNone/>
            </a:pPr>
            <a:r>
              <a:rPr lang="en-GB" b="1"/>
              <a:t>The Pauli-X Gate:</a:t>
            </a:r>
          </a:p>
          <a:p>
            <a:r>
              <a:rPr lang="en-GB"/>
              <a:t>Alice applies X gate if she wants to encode 1. Otherwise, no X-Gate is required.</a:t>
            </a:r>
          </a:p>
          <a:p>
            <a:endParaRPr lang="en-GB" b="1"/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5807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0C960-21BC-9E51-E9B2-F1A8B2911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Quantum Foundations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01ABD3D-C113-5181-0F52-533D392D4C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3261009"/>
              </p:ext>
            </p:extLst>
          </p:nvPr>
        </p:nvGraphicFramePr>
        <p:xfrm>
          <a:off x="521208" y="2453480"/>
          <a:ext cx="11156948" cy="2133600"/>
        </p:xfrm>
        <a:graphic>
          <a:graphicData uri="http://schemas.openxmlformats.org/drawingml/2006/table">
            <a:tbl>
              <a:tblPr/>
              <a:tblGrid>
                <a:gridCol w="2789237">
                  <a:extLst>
                    <a:ext uri="{9D8B030D-6E8A-4147-A177-3AD203B41FA5}">
                      <a16:colId xmlns:a16="http://schemas.microsoft.com/office/drawing/2014/main" val="3162042684"/>
                    </a:ext>
                  </a:extLst>
                </a:gridCol>
                <a:gridCol w="2789237">
                  <a:extLst>
                    <a:ext uri="{9D8B030D-6E8A-4147-A177-3AD203B41FA5}">
                      <a16:colId xmlns:a16="http://schemas.microsoft.com/office/drawing/2014/main" val="2647646980"/>
                    </a:ext>
                  </a:extLst>
                </a:gridCol>
                <a:gridCol w="2789237">
                  <a:extLst>
                    <a:ext uri="{9D8B030D-6E8A-4147-A177-3AD203B41FA5}">
                      <a16:colId xmlns:a16="http://schemas.microsoft.com/office/drawing/2014/main" val="722656037"/>
                    </a:ext>
                  </a:extLst>
                </a:gridCol>
                <a:gridCol w="2789237">
                  <a:extLst>
                    <a:ext uri="{9D8B030D-6E8A-4147-A177-3AD203B41FA5}">
                      <a16:colId xmlns:a16="http://schemas.microsoft.com/office/drawing/2014/main" val="106552604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Bit</a:t>
                      </a:r>
                      <a:endParaRPr lang="en-GB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Basis</a:t>
                      </a:r>
                      <a:endParaRPr lang="en-GB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Gates Applied</a:t>
                      </a:r>
                      <a:endParaRPr lang="en-GB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Resulting State</a:t>
                      </a:r>
                      <a:endParaRPr lang="en-GB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14391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  <a:endParaRPr lang="en-GB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Rectilinear (Z)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None (Identity)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|0&gt;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198433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endParaRPr lang="en-GB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Rectilinear (Z)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X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|1&gt;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21362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</a:t>
                      </a:r>
                      <a:endParaRPr lang="en-GB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Diagonal (X)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|+&gt;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021404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endParaRPr lang="en-GB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Diagonal (X)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X then H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|-&gt;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1971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E2FED8F-CDC7-88F5-F6B2-C6CCE45A338A}"/>
              </a:ext>
            </a:extLst>
          </p:cNvPr>
          <p:cNvSpPr txBox="1"/>
          <p:nvPr/>
        </p:nvSpPr>
        <p:spPr>
          <a:xfrm>
            <a:off x="721895" y="5130265"/>
            <a:ext cx="495701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/>
              <a:t>**|+&gt; /  |-&gt; is the superposition of |0&gt; and |1&gt;</a:t>
            </a:r>
          </a:p>
          <a:p>
            <a:r>
              <a:rPr lang="en-GB"/>
              <a:t>**Initially the quantum register stays at 0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6153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7EC12-1AA9-6932-6412-CCA8DAE7B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Core Protocol: BB84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3EDA5-2056-541D-5951-098B73399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901952"/>
            <a:ext cx="11155680" cy="3767328"/>
          </a:xfrm>
        </p:spPr>
        <p:txBody>
          <a:bodyPr/>
          <a:lstStyle/>
          <a:p>
            <a:r>
              <a:rPr lang="en-GB"/>
              <a:t>Here comes the best part</a:t>
            </a:r>
          </a:p>
          <a:p>
            <a:pPr marL="0" indent="0">
              <a:buNone/>
            </a:pPr>
            <a:r>
              <a:rPr lang="en-GB" b="1"/>
              <a:t>Alice the sender:</a:t>
            </a:r>
          </a:p>
          <a:p>
            <a:r>
              <a:rPr lang="en-GB"/>
              <a:t>Alice has a laser gun and a set of polarizing filter (for this model we will consider only Rectilinear/Computational or Z basis and Diagonal or X basis)</a:t>
            </a:r>
          </a:p>
          <a:p>
            <a:pPr marL="0" indent="0">
              <a:buNone/>
            </a:pPr>
            <a:r>
              <a:rPr lang="en-GB"/>
              <a:t>				         </a:t>
            </a:r>
            <a:r>
              <a:rPr lang="en-GB" b="1"/>
              <a:t>Scenario of Alice</a:t>
            </a:r>
          </a:p>
          <a:p>
            <a:pPr marL="0" indent="0">
              <a:buNone/>
            </a:pPr>
            <a:endParaRPr lang="en-GB" b="1"/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endParaRPr lang="en-GB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9BA0233-38DD-6D6D-B5AE-D2C45CEEE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007333"/>
              </p:ext>
            </p:extLst>
          </p:nvPr>
        </p:nvGraphicFramePr>
        <p:xfrm>
          <a:off x="1675384" y="3871976"/>
          <a:ext cx="8128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66155011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138465008"/>
                    </a:ext>
                  </a:extLst>
                </a:gridCol>
              </a:tblGrid>
              <a:tr h="123613">
                <a:tc>
                  <a:txBody>
                    <a:bodyPr/>
                    <a:lstStyle/>
                    <a:p>
                      <a:r>
                        <a:rPr lang="en-GB"/>
                        <a:t>                          Scenario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                    Scenario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276977"/>
                  </a:ext>
                </a:extLst>
              </a:tr>
              <a:tr h="242147">
                <a:tc>
                  <a:txBody>
                    <a:bodyPr/>
                    <a:lstStyle/>
                    <a:p>
                      <a:r>
                        <a:rPr lang="en-GB"/>
                        <a:t>Alice sets her filter at 0</a:t>
                      </a:r>
                      <a:r>
                        <a:rPr lang="en-GB" sz="1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° </a:t>
                      </a:r>
                      <a:r>
                        <a:rPr lang="en-GB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represent binary 0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She tilts her filter to 45</a:t>
                      </a:r>
                      <a:r>
                        <a:rPr lang="en-GB" sz="1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° </a:t>
                      </a:r>
                      <a:r>
                        <a:rPr lang="en-GB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represent binary 0 </a:t>
                      </a:r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58050"/>
                  </a:ext>
                </a:extLst>
              </a:tr>
              <a:tr h="123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/>
                        <a:t>Alice sets her filter at 90</a:t>
                      </a:r>
                      <a:r>
                        <a:rPr lang="en-GB" sz="1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° </a:t>
                      </a:r>
                      <a:r>
                        <a:rPr lang="en-GB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represent binary 1</a:t>
                      </a:r>
                      <a:endParaRPr lang="en-GB"/>
                    </a:p>
                    <a:p>
                      <a:endParaRPr lang="en-GB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She tilts her filter to 135</a:t>
                      </a:r>
                      <a:r>
                        <a:rPr lang="en-GB" sz="1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° </a:t>
                      </a:r>
                      <a:r>
                        <a:rPr lang="en-GB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represent binary 1</a:t>
                      </a:r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232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3712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1248C-D0FF-321C-D853-4ED5F4BCC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Core Protocol: BB84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510CA-633D-A96E-4797-FE33CE1F8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1947672"/>
            <a:ext cx="11155680" cy="3767328"/>
          </a:xfrm>
        </p:spPr>
        <p:txBody>
          <a:bodyPr/>
          <a:lstStyle/>
          <a:p>
            <a:pPr marL="0" indent="0">
              <a:buNone/>
            </a:pPr>
            <a:r>
              <a:rPr lang="en-GB" b="1"/>
              <a:t>Bob the receiver:</a:t>
            </a:r>
          </a:p>
          <a:p>
            <a:r>
              <a:rPr lang="en-GB"/>
              <a:t>When Bob received the photons, he doesn’t know their orientations. So he randomly guesses the filter Alice used. </a:t>
            </a:r>
          </a:p>
          <a:p>
            <a:pPr marL="0" indent="0">
              <a:buNone/>
            </a:pPr>
            <a:r>
              <a:rPr lang="en-GB"/>
              <a:t>				            </a:t>
            </a:r>
            <a:r>
              <a:rPr lang="en-GB" b="1"/>
              <a:t>Scenario of Bob</a:t>
            </a:r>
          </a:p>
          <a:p>
            <a:pPr marL="0" indent="0">
              <a:buNone/>
            </a:pPr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01FEC6-BF85-652C-0986-ABD4FBFEB7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220941"/>
              </p:ext>
            </p:extLst>
          </p:nvPr>
        </p:nvGraphicFramePr>
        <p:xfrm>
          <a:off x="1839976" y="3707384"/>
          <a:ext cx="8128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69589674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956802015"/>
                    </a:ext>
                  </a:extLst>
                </a:gridCol>
              </a:tblGrid>
              <a:tr h="123613">
                <a:tc>
                  <a:txBody>
                    <a:bodyPr/>
                    <a:lstStyle/>
                    <a:p>
                      <a:r>
                        <a:rPr lang="en-GB"/>
                        <a:t>                              Scenario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                      Scenario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876364"/>
                  </a:ext>
                </a:extLst>
              </a:tr>
              <a:tr h="242147">
                <a:tc>
                  <a:txBody>
                    <a:bodyPr/>
                    <a:lstStyle/>
                    <a:p>
                      <a:r>
                        <a:rPr lang="en-GB"/>
                        <a:t>Bob guessed right: If Alice sent Bit 1 at 90</a:t>
                      </a:r>
                      <a:r>
                        <a:rPr lang="en-GB" sz="1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° </a:t>
                      </a:r>
                      <a:r>
                        <a:rPr lang="en-GB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 Bob used Rectilinear filter, he has 100% probability to get it correctly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Bob guessed wrong: If Alice sent Bit 1 at 90</a:t>
                      </a:r>
                      <a:r>
                        <a:rPr lang="en-GB" sz="1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° </a:t>
                      </a:r>
                      <a:r>
                        <a:rPr lang="en-GB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 Bob used Diagonal filter, he has 50% probability to get it correctly</a:t>
                      </a:r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203011"/>
                  </a:ext>
                </a:extLst>
              </a:tr>
              <a:tr h="123613">
                <a:tc>
                  <a:txBody>
                    <a:bodyPr/>
                    <a:lstStyle/>
                    <a:p>
                      <a:r>
                        <a:rPr lang="en-GB"/>
                        <a:t>Comment: Photons will get through the filter thus the accuracy is higher.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Comment: According to Heisenberg's law of uncertainty he has 50% chance to get it correct, making this as a garbage product.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41611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2332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985F4-6A79-CA4F-4810-1DA6FB24C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Core Protocol: BB84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6B724-68EB-EE18-FD30-C23B7515D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1947672"/>
            <a:ext cx="11155680" cy="3767328"/>
          </a:xfrm>
        </p:spPr>
        <p:txBody>
          <a:bodyPr/>
          <a:lstStyle/>
          <a:p>
            <a:pPr marL="0" indent="0">
              <a:buNone/>
            </a:pPr>
            <a:r>
              <a:rPr lang="en-GB" b="1" u="sng"/>
              <a:t>Sifting:</a:t>
            </a:r>
          </a:p>
          <a:p>
            <a:r>
              <a:rPr lang="en-GB"/>
              <a:t>Once all the photons are sent, they talk on a public channel about their basis.</a:t>
            </a:r>
          </a:p>
          <a:p>
            <a:r>
              <a:rPr lang="en-GB"/>
              <a:t>Bob says: "For photon #1, I used a Rectilinear filter. For photon #2, I used Diagonal“</a:t>
            </a:r>
          </a:p>
          <a:p>
            <a:pPr marL="0" indent="0">
              <a:buNone/>
            </a:pPr>
            <a:r>
              <a:rPr lang="en-GB"/>
              <a:t>    Alice says: "I used Rectilinear for #1, so keep that result. I used Rectilinear for #2 as well, so throw your result     </a:t>
            </a:r>
          </a:p>
          <a:p>
            <a:pPr marL="0" indent="0">
              <a:buNone/>
            </a:pPr>
            <a:r>
              <a:rPr lang="en-GB"/>
              <a:t>     for #2 away.“</a:t>
            </a:r>
          </a:p>
          <a:p>
            <a:r>
              <a:rPr lang="en-GB"/>
              <a:t>Even though they threw 50% of their data ( This calculation of 50% shown later the slide) the bits they kept are guaranteed to match because they used the same basis.</a:t>
            </a:r>
          </a:p>
          <a:p>
            <a:r>
              <a:rPr lang="en-GB"/>
              <a:t>This way only Alice and Bob has the actual key. It makes sure no one else has the copy of it.</a:t>
            </a:r>
          </a:p>
        </p:txBody>
      </p:sp>
    </p:spTree>
    <p:extLst>
      <p:ext uri="{BB962C8B-B14F-4D97-AF65-F5344CB8AC3E}">
        <p14:creationId xmlns:p14="http://schemas.microsoft.com/office/powerpoint/2010/main" val="4194267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7CF41-3D6D-170E-F0C1-77E1C1675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Core Protocol: BB84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B9111-9144-DAE0-47B6-4525A3424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039112"/>
            <a:ext cx="11155680" cy="3767328"/>
          </a:xfrm>
        </p:spPr>
        <p:txBody>
          <a:bodyPr/>
          <a:lstStyle/>
          <a:p>
            <a:r>
              <a:rPr lang="en-GB"/>
              <a:t>At first let’s discuss No-cloning theorem before knowing about Eve.</a:t>
            </a:r>
          </a:p>
          <a:p>
            <a:r>
              <a:rPr lang="en-GB"/>
              <a:t>In classical world we can keep a copy of the key, without changing the original state or shape of the key</a:t>
            </a:r>
          </a:p>
          <a:p>
            <a:r>
              <a:rPr lang="en-GB"/>
              <a:t>In Quantum world to create a copy of the quantum states, one must interact with the photons.</a:t>
            </a:r>
          </a:p>
          <a:p>
            <a:pPr marL="0" indent="0">
              <a:buNone/>
            </a:pPr>
            <a:r>
              <a:rPr lang="en-GB" b="1"/>
              <a:t>Now introducing the “Eve”, The one in the Middle</a:t>
            </a:r>
          </a:p>
          <a:p>
            <a:r>
              <a:rPr lang="en-GB"/>
              <a:t>Let’s say Eve caught the Alice’s photons, Eve has 50% chances to guess them correctly</a:t>
            </a:r>
          </a:p>
          <a:p>
            <a:pPr marL="0" indent="0">
              <a:buNone/>
            </a:pPr>
            <a:r>
              <a:rPr lang="en-GB"/>
              <a:t>		So, the QBER = 0.5 x 0.5 = 0.25</a:t>
            </a:r>
          </a:p>
          <a:p>
            <a:pPr marL="0" indent="0">
              <a:buNone/>
            </a:pPr>
            <a:r>
              <a:rPr lang="en-GB"/>
              <a:t>Thus, probabilistically Bob has 25% chance to measure the Qubit correctly </a:t>
            </a:r>
          </a:p>
          <a:p>
            <a:pPr marL="0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5836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D89CF-3ACC-D4C3-04A9-760EE72A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Core Protocol: BB84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D2D04-A98A-F739-5D7C-8656827B3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984" y="1709928"/>
            <a:ext cx="11155680" cy="3767328"/>
          </a:xfrm>
        </p:spPr>
        <p:txBody>
          <a:bodyPr/>
          <a:lstStyle/>
          <a:p>
            <a:pPr marL="0" indent="0">
              <a:buNone/>
            </a:pPr>
            <a:r>
              <a:rPr lang="en-GB" b="1"/>
              <a:t>Let’s explore more on Eve:</a:t>
            </a:r>
          </a:p>
          <a:p>
            <a:r>
              <a:rPr lang="en-GB"/>
              <a:t>As I have mentioned, Alice and Bob communicates once after all the key’s are sent.</a:t>
            </a:r>
          </a:p>
          <a:p>
            <a:pPr marL="0" indent="0">
              <a:buNone/>
            </a:pPr>
            <a:r>
              <a:rPr lang="en-GB"/>
              <a:t>			                          </a:t>
            </a:r>
            <a:r>
              <a:rPr lang="en-GB" b="1" u="sng"/>
              <a:t>Eve’s Scenario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4A8993-495B-BAFF-CBE8-50C6AAC5E1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375845"/>
              </p:ext>
            </p:extLst>
          </p:nvPr>
        </p:nvGraphicFramePr>
        <p:xfrm>
          <a:off x="1693672" y="2935224"/>
          <a:ext cx="8373871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0312">
                  <a:extLst>
                    <a:ext uri="{9D8B030D-6E8A-4147-A177-3AD203B41FA5}">
                      <a16:colId xmlns:a16="http://schemas.microsoft.com/office/drawing/2014/main" val="3416653323"/>
                    </a:ext>
                  </a:extLst>
                </a:gridCol>
                <a:gridCol w="2832269">
                  <a:extLst>
                    <a:ext uri="{9D8B030D-6E8A-4147-A177-3AD203B41FA5}">
                      <a16:colId xmlns:a16="http://schemas.microsoft.com/office/drawing/2014/main" val="1991359370"/>
                    </a:ext>
                  </a:extLst>
                </a:gridCol>
                <a:gridCol w="2791290">
                  <a:extLst>
                    <a:ext uri="{9D8B030D-6E8A-4147-A177-3AD203B41FA5}">
                      <a16:colId xmlns:a16="http://schemas.microsoft.com/office/drawing/2014/main" val="39835497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/>
                        <a:t>          Alice’s Sent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 Eavesdropping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Bob’s Measured Bit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134658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r>
                        <a:rPr lang="en-GB"/>
                        <a:t>Bit 1 at 90</a:t>
                      </a:r>
                      <a:r>
                        <a:rPr lang="en-GB" sz="1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° </a:t>
                      </a:r>
                      <a:r>
                        <a:rPr lang="en-GB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rectilinear basis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Eve guessed Diagonal basis and sent it to Bob. Bit Discarded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Bob get photon from Eve. Guessed Rectilinear basis</a:t>
                      </a:r>
                    </a:p>
                    <a:p>
                      <a:r>
                        <a:rPr lang="en-GB"/>
                        <a:t>Bit kept.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561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/>
                        <a:t>Bit 0 at 90</a:t>
                      </a:r>
                      <a:r>
                        <a:rPr lang="en-GB" sz="1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° </a:t>
                      </a:r>
                      <a:r>
                        <a:rPr lang="en-GB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rectilinear basis</a:t>
                      </a:r>
                      <a:endParaRPr lang="en-GB"/>
                    </a:p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/>
                        <a:t>Eve guessed </a:t>
                      </a:r>
                      <a:r>
                        <a:rPr lang="en-GB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Rectilinear basis</a:t>
                      </a:r>
                      <a:r>
                        <a:rPr lang="en-GB"/>
                        <a:t> and sent it to Bob. Bit kept.</a:t>
                      </a:r>
                    </a:p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Bob get Rectilinear Basis from Eve. Guessed Diagonal basis. Bit Discarded</a:t>
                      </a:r>
                    </a:p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4287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Bit 1 at 45</a:t>
                      </a:r>
                      <a:r>
                        <a:rPr lang="en-GB" sz="1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° </a:t>
                      </a:r>
                      <a:r>
                        <a:rPr lang="en-GB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Diagonal Basis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Eve guessed Rectilinear basis and sent it to Bob. Bit Discarded.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Bob get Rectilinear Basis. Guessed Rectilinear. Bit Discarded.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7898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9015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42F47-1D10-A280-4AFA-009DA4DFB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Methodology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BBFE22C-1427-5B0E-66D5-47F64493A3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12" y="1709928"/>
            <a:ext cx="2802553" cy="4818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BDD135-063E-465B-C2E7-9A710563BA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520" y="1812438"/>
            <a:ext cx="6429375" cy="24688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E372F3-2C7B-F812-96B7-3FC48AC4DA8E}"/>
              </a:ext>
            </a:extLst>
          </p:cNvPr>
          <p:cNvSpPr txBox="1"/>
          <p:nvPr/>
        </p:nvSpPr>
        <p:spPr>
          <a:xfrm>
            <a:off x="4709160" y="4690872"/>
            <a:ext cx="5340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Figure on the left, showcases our idea</a:t>
            </a:r>
          </a:p>
          <a:p>
            <a:r>
              <a:rPr lang="en-GB"/>
              <a:t>Figure above, showcasing our </a:t>
            </a:r>
            <a:r>
              <a:rPr lang="en-GB" err="1"/>
              <a:t>excecution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6296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E5F4A-47AB-1564-91A1-7FC0479A6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System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CE8AEE-2E60-A9DC-B2AC-214E7238F4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6060" y="2261993"/>
            <a:ext cx="3652627" cy="18658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3F8696-0FFF-3DA0-8F21-3A42B0F40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154" y="1992429"/>
            <a:ext cx="2962195" cy="33082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5F4DEB-C4AF-5B16-F793-234D83AA41E5}"/>
              </a:ext>
            </a:extLst>
          </p:cNvPr>
          <p:cNvSpPr txBox="1"/>
          <p:nvPr/>
        </p:nvSpPr>
        <p:spPr>
          <a:xfrm>
            <a:off x="702644" y="1992429"/>
            <a:ext cx="4119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Presence of Alice and Bob only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08DA946-7E26-99BB-B4CC-0725AFDCDC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542526"/>
              </p:ext>
            </p:extLst>
          </p:nvPr>
        </p:nvGraphicFramePr>
        <p:xfrm>
          <a:off x="702644" y="4011202"/>
          <a:ext cx="4591730" cy="1987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8346">
                  <a:extLst>
                    <a:ext uri="{9D8B030D-6E8A-4147-A177-3AD203B41FA5}">
                      <a16:colId xmlns:a16="http://schemas.microsoft.com/office/drawing/2014/main" val="324137779"/>
                    </a:ext>
                  </a:extLst>
                </a:gridCol>
                <a:gridCol w="918346">
                  <a:extLst>
                    <a:ext uri="{9D8B030D-6E8A-4147-A177-3AD203B41FA5}">
                      <a16:colId xmlns:a16="http://schemas.microsoft.com/office/drawing/2014/main" val="497390631"/>
                    </a:ext>
                  </a:extLst>
                </a:gridCol>
                <a:gridCol w="918346">
                  <a:extLst>
                    <a:ext uri="{9D8B030D-6E8A-4147-A177-3AD203B41FA5}">
                      <a16:colId xmlns:a16="http://schemas.microsoft.com/office/drawing/2014/main" val="3640069795"/>
                    </a:ext>
                  </a:extLst>
                </a:gridCol>
                <a:gridCol w="918346">
                  <a:extLst>
                    <a:ext uri="{9D8B030D-6E8A-4147-A177-3AD203B41FA5}">
                      <a16:colId xmlns:a16="http://schemas.microsoft.com/office/drawing/2014/main" val="393526482"/>
                    </a:ext>
                  </a:extLst>
                </a:gridCol>
                <a:gridCol w="918346">
                  <a:extLst>
                    <a:ext uri="{9D8B030D-6E8A-4147-A177-3AD203B41FA5}">
                      <a16:colId xmlns:a16="http://schemas.microsoft.com/office/drawing/2014/main" val="2411528818"/>
                    </a:ext>
                  </a:extLst>
                </a:gridCol>
              </a:tblGrid>
              <a:tr h="26038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Qubit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Alice's Basis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Bob's Basis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Match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Result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859229777"/>
                  </a:ext>
                </a:extLst>
              </a:tr>
              <a:tr h="26038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q[0]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Rectilinear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Rectilinear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Yes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Keep (Bit 0)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029921209"/>
                  </a:ext>
                </a:extLst>
              </a:tr>
              <a:tr h="26038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q[1]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Rectilinear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Diagonal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No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Discard (Random result)</a:t>
                      </a:r>
                    </a:p>
                  </a:txBody>
                  <a:tcPr marL="0" marR="0" marT="19050" marB="19050" anchor="b"/>
                </a:tc>
                <a:extLst>
                  <a:ext uri="{0D108BD9-81ED-4DB2-BD59-A6C34878D82A}">
                    <a16:rowId xmlns:a16="http://schemas.microsoft.com/office/drawing/2014/main" val="382309931"/>
                  </a:ext>
                </a:extLst>
              </a:tr>
              <a:tr h="26038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q[2]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Diagonal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Diagonal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Yes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Keep (Bit 0)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909711518"/>
                  </a:ext>
                </a:extLst>
              </a:tr>
              <a:tr h="26038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q[3]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Diagonal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Rectilinear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No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Discard (Random result)</a:t>
                      </a:r>
                    </a:p>
                  </a:txBody>
                  <a:tcPr marL="0" marR="0" marT="19050" marB="19050" anchor="b"/>
                </a:tc>
                <a:extLst>
                  <a:ext uri="{0D108BD9-81ED-4DB2-BD59-A6C34878D82A}">
                    <a16:rowId xmlns:a16="http://schemas.microsoft.com/office/drawing/2014/main" val="1166728628"/>
                  </a:ext>
                </a:extLst>
              </a:tr>
              <a:tr h="26038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q[4]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Rectilinear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Rectilinear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Yes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Keep (Bit 1)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304928514"/>
                  </a:ext>
                </a:extLst>
              </a:tr>
              <a:tr h="26038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q[5]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Diagonal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Diagonal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Yes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GB" sz="1000">
                          <a:effectLst/>
                        </a:rPr>
                        <a:t>Keep (Bit 0)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49239010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069FB59-0304-3FB9-26C4-065259835FD4}"/>
              </a:ext>
            </a:extLst>
          </p:cNvPr>
          <p:cNvSpPr txBox="1"/>
          <p:nvPr/>
        </p:nvSpPr>
        <p:spPr>
          <a:xfrm>
            <a:off x="8888131" y="1992429"/>
            <a:ext cx="2007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Relatively higher accuracy</a:t>
            </a:r>
          </a:p>
        </p:txBody>
      </p:sp>
    </p:spTree>
    <p:extLst>
      <p:ext uri="{BB962C8B-B14F-4D97-AF65-F5344CB8AC3E}">
        <p14:creationId xmlns:p14="http://schemas.microsoft.com/office/powerpoint/2010/main" val="753978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27B64-C4AA-3631-8F0F-4FAADCDDA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System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8A8545-CBF2-AB6E-E390-AD84510EF9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704" y="2216420"/>
            <a:ext cx="3229861" cy="17629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CDBCD3-5A2D-A603-5E3E-45CBFFAAC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6126" y="2370825"/>
            <a:ext cx="3229861" cy="19593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550DE3-CDFF-AFF6-A58C-3C66119600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1456" y="2370825"/>
            <a:ext cx="2619962" cy="27761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D3EFF4F-8CF0-4FE6-2A55-B6177D3DE1B3}"/>
              </a:ext>
            </a:extLst>
          </p:cNvPr>
          <p:cNvSpPr txBox="1"/>
          <p:nvPr/>
        </p:nvSpPr>
        <p:spPr>
          <a:xfrm>
            <a:off x="658368" y="1847088"/>
            <a:ext cx="3090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Alice – Eve - Bob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B7DC217-6FCC-DC16-AB32-D99D0FB3D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398102"/>
              </p:ext>
            </p:extLst>
          </p:nvPr>
        </p:nvGraphicFramePr>
        <p:xfrm>
          <a:off x="425704" y="4132468"/>
          <a:ext cx="4622148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537">
                  <a:extLst>
                    <a:ext uri="{9D8B030D-6E8A-4147-A177-3AD203B41FA5}">
                      <a16:colId xmlns:a16="http://schemas.microsoft.com/office/drawing/2014/main" val="3977652558"/>
                    </a:ext>
                  </a:extLst>
                </a:gridCol>
                <a:gridCol w="1155537">
                  <a:extLst>
                    <a:ext uri="{9D8B030D-6E8A-4147-A177-3AD203B41FA5}">
                      <a16:colId xmlns:a16="http://schemas.microsoft.com/office/drawing/2014/main" val="3078560075"/>
                    </a:ext>
                  </a:extLst>
                </a:gridCol>
                <a:gridCol w="1155537">
                  <a:extLst>
                    <a:ext uri="{9D8B030D-6E8A-4147-A177-3AD203B41FA5}">
                      <a16:colId xmlns:a16="http://schemas.microsoft.com/office/drawing/2014/main" val="2721218917"/>
                    </a:ext>
                  </a:extLst>
                </a:gridCol>
                <a:gridCol w="1155537">
                  <a:extLst>
                    <a:ext uri="{9D8B030D-6E8A-4147-A177-3AD203B41FA5}">
                      <a16:colId xmlns:a16="http://schemas.microsoft.com/office/drawing/2014/main" val="1670563024"/>
                    </a:ext>
                  </a:extLst>
                </a:gridCol>
              </a:tblGrid>
              <a:tr h="196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Qubit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Alice Basis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Bob Basis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Eve Basis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729034"/>
                  </a:ext>
                </a:extLst>
              </a:tr>
              <a:tr h="196652">
                <a:tc>
                  <a:txBody>
                    <a:bodyPr/>
                    <a:lstStyle/>
                    <a:p>
                      <a:r>
                        <a:rPr lang="en-GB" sz="800"/>
                        <a:t>q[0]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Rectilinear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/>
                        <a:t>Rectilinear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/>
                        <a:t>Diagonal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414020"/>
                  </a:ext>
                </a:extLst>
              </a:tr>
              <a:tr h="196652">
                <a:tc>
                  <a:txBody>
                    <a:bodyPr/>
                    <a:lstStyle/>
                    <a:p>
                      <a:r>
                        <a:rPr lang="en-GB" sz="800"/>
                        <a:t>q[2]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Diagonal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/>
                        <a:t>Diagonal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/>
                        <a:t>Diagonal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232376"/>
                  </a:ext>
                </a:extLst>
              </a:tr>
              <a:tr h="196652">
                <a:tc>
                  <a:txBody>
                    <a:bodyPr/>
                    <a:lstStyle/>
                    <a:p>
                      <a:r>
                        <a:rPr lang="en-GB" sz="800"/>
                        <a:t>q[4]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Rectilinear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/>
                        <a:t>Rectilinear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/>
                        <a:t>Rectilinear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386299"/>
                  </a:ext>
                </a:extLst>
              </a:tr>
              <a:tr h="196652">
                <a:tc>
                  <a:txBody>
                    <a:bodyPr/>
                    <a:lstStyle/>
                    <a:p>
                      <a:r>
                        <a:rPr lang="en-GB" sz="800"/>
                        <a:t>Q[5]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Diagonal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/>
                        <a:t>Diagonal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/>
                        <a:t>Diagonal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649262"/>
                  </a:ext>
                </a:extLst>
              </a:tr>
              <a:tr h="196652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841637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52CAF44-D3F7-FB12-E2AC-1189E6FFE63C}"/>
              </a:ext>
            </a:extLst>
          </p:cNvPr>
          <p:cNvSpPr txBox="1"/>
          <p:nvPr/>
        </p:nvSpPr>
        <p:spPr>
          <a:xfrm>
            <a:off x="5526170" y="4641698"/>
            <a:ext cx="26883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Measurement percentage is quite low due interception</a:t>
            </a:r>
          </a:p>
        </p:txBody>
      </p:sp>
    </p:spTree>
    <p:extLst>
      <p:ext uri="{BB962C8B-B14F-4D97-AF65-F5344CB8AC3E}">
        <p14:creationId xmlns:p14="http://schemas.microsoft.com/office/powerpoint/2010/main" val="4129226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CF9A6-6B0C-F33D-54DF-0F5300D68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C2530-B95B-8BED-1C0D-1804E8B0B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901952"/>
            <a:ext cx="5919216" cy="397764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1200" b="1"/>
              <a:t>PennyLane</a:t>
            </a:r>
          </a:p>
          <a:p>
            <a:pPr algn="just">
              <a:lnSpc>
                <a:spcPct val="100000"/>
              </a:lnSpc>
            </a:pPr>
            <a:r>
              <a:rPr lang="en-GB" sz="1200"/>
              <a:t>Now we have the idea of the Noise and QBER. We can learn about PennyLane, a Variational Quantum Circuit (VQC)</a:t>
            </a:r>
          </a:p>
          <a:p>
            <a:pPr algn="just">
              <a:lnSpc>
                <a:spcPct val="100000"/>
              </a:lnSpc>
            </a:pPr>
            <a:r>
              <a:rPr lang="en-GB" sz="1200"/>
              <a:t>We took classical data such as QBER and encoded them using Angle Embedding. This translates decimal data (like 0.12) to a rotational angle for a qubit.</a:t>
            </a:r>
          </a:p>
          <a:p>
            <a:pPr algn="just">
              <a:lnSpc>
                <a:spcPct val="100000"/>
              </a:lnSpc>
            </a:pPr>
            <a:r>
              <a:rPr lang="en-GB" sz="1200"/>
              <a:t>The Layered Circuit: We applied a series of trainable gates.</a:t>
            </a:r>
          </a:p>
          <a:p>
            <a:pPr algn="just">
              <a:lnSpc>
                <a:spcPct val="100000"/>
              </a:lnSpc>
            </a:pPr>
            <a:r>
              <a:rPr lang="en-GB" sz="1200"/>
              <a:t>Rotation Gates (RY, RX): These are the "weights" of the model.</a:t>
            </a:r>
          </a:p>
          <a:p>
            <a:pPr algn="just">
              <a:lnSpc>
                <a:spcPct val="100000"/>
              </a:lnSpc>
            </a:pPr>
            <a:r>
              <a:rPr lang="en-GB" sz="1200"/>
              <a:t>Entangling Gates (CNOT): These allow the model to find correlations between different inputs (e.g., how a spike in QBER and a spike in Latency together signal an attack).</a:t>
            </a:r>
          </a:p>
          <a:p>
            <a:pPr algn="just">
              <a:lnSpc>
                <a:spcPct val="100000"/>
              </a:lnSpc>
            </a:pPr>
            <a:r>
              <a:rPr lang="en-GB" sz="1200"/>
              <a:t>Input: Real-time stream of QBER and Stability data from the "Data Harvester.“</a:t>
            </a:r>
          </a:p>
          <a:p>
            <a:pPr algn="just">
              <a:lnSpc>
                <a:spcPct val="100000"/>
              </a:lnSpc>
            </a:pPr>
            <a:r>
              <a:rPr lang="en-GB" sz="1200"/>
              <a:t>Processing: The data passes through the trained </a:t>
            </a:r>
            <a:r>
              <a:rPr lang="en-GB" sz="1200" err="1"/>
              <a:t>QNode</a:t>
            </a:r>
            <a:r>
              <a:rPr lang="en-GB" sz="1200"/>
              <a:t>.</a:t>
            </a:r>
          </a:p>
          <a:p>
            <a:pPr algn="just">
              <a:lnSpc>
                <a:spcPct val="100000"/>
              </a:lnSpc>
            </a:pPr>
            <a:r>
              <a:rPr lang="en-GB" sz="1200"/>
              <a:t>Output: A probability score. If the output is &gt; 0.5, the system classifies it as an </a:t>
            </a:r>
            <a:r>
              <a:rPr lang="en-GB" sz="1200" err="1"/>
              <a:t>Attack.If</a:t>
            </a:r>
            <a:r>
              <a:rPr lang="en-GB" sz="1200"/>
              <a:t> the output is &lt; 0.5, it is dismissed as System Noise.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70BC89-F873-3B17-BC17-6FCACFA1FE69}"/>
              </a:ext>
            </a:extLst>
          </p:cNvPr>
          <p:cNvSpPr txBox="1"/>
          <p:nvPr/>
        </p:nvSpPr>
        <p:spPr>
          <a:xfrm>
            <a:off x="7213854" y="1289304"/>
            <a:ext cx="368655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sz="1200" b="1"/>
              <a:t>Server.py (The Central Controller / "The Brain"):</a:t>
            </a:r>
          </a:p>
          <a:p>
            <a:pPr algn="just">
              <a:buNone/>
            </a:pPr>
            <a:endParaRPr lang="en-GB" sz="1200" b="1"/>
          </a:p>
          <a:p>
            <a:pPr algn="just"/>
            <a:r>
              <a:rPr lang="en-GB" sz="1200"/>
              <a:t>The Server acts as the </a:t>
            </a:r>
            <a:r>
              <a:rPr lang="en-GB" sz="1200" b="1"/>
              <a:t>Quantum Network Management Layer</a:t>
            </a:r>
            <a:r>
              <a:rPr lang="en-GB" sz="1200"/>
              <a:t>. It doesn't see the keys, but it manages the traffic.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1200" b="1"/>
              <a:t>Classical Channel:</a:t>
            </a:r>
            <a:r>
              <a:rPr lang="en-GB" sz="1200"/>
              <a:t> It facilitates the communication between Alice and Bob during the "Sifting" phase.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1200" b="1"/>
              <a:t>Routing Logic (Dijkstra):</a:t>
            </a:r>
            <a:r>
              <a:rPr lang="en-GB" sz="1200"/>
              <a:t> This is where the </a:t>
            </a:r>
            <a:r>
              <a:rPr lang="en-GB" sz="1200" b="1"/>
              <a:t>Self-Healing</a:t>
            </a:r>
            <a:r>
              <a:rPr lang="en-GB" sz="1200"/>
              <a:t> happens. The server monitors the health of all links. If an attack is detected on one link, the Server runs the Dijkstra algorithm to calculate a new, secure path through the mesh.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1200" b="1"/>
              <a:t>Data Relay:</a:t>
            </a:r>
            <a:r>
              <a:rPr lang="en-GB" sz="1200"/>
              <a:t> It acts as the bridge, ensuring that the sifting logs reach the dashboards.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EFD366-AA5A-4AA7-6B8A-00941E07EDD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6545" r="-627"/>
          <a:stretch>
            <a:fillRect/>
          </a:stretch>
        </p:blipFill>
        <p:spPr bwMode="auto">
          <a:xfrm>
            <a:off x="6660451" y="4001770"/>
            <a:ext cx="4924425" cy="285623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85692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25B6E-F4C9-F5A8-2C65-6FBAA3483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DE742-7C85-CE8D-6A82-C0D64B3BF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2443662"/>
            <a:ext cx="3791712" cy="2971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1200" b="1"/>
              <a:t>Alice.py (The Transmitter)</a:t>
            </a:r>
          </a:p>
          <a:p>
            <a:pPr algn="just"/>
            <a:r>
              <a:rPr lang="en-GB" sz="1200" b="1"/>
              <a:t>Quantum Generation:</a:t>
            </a:r>
            <a:r>
              <a:rPr lang="en-GB" sz="1200"/>
              <a:t> It generates a random string of bits (0 or 1) and a random string of bases (Rectilinear or Diagonal).</a:t>
            </a:r>
          </a:p>
          <a:p>
            <a:pPr algn="just"/>
            <a:r>
              <a:rPr lang="en-GB" sz="1200" b="1"/>
              <a:t>Qubit Preparation:</a:t>
            </a:r>
            <a:r>
              <a:rPr lang="en-GB" sz="1200"/>
              <a:t> Using PennyLane or a simulator, it applies the </a:t>
            </a:r>
            <a:r>
              <a:rPr lang="en-GB" sz="1200" b="1"/>
              <a:t>Hadamard (H)</a:t>
            </a:r>
            <a:r>
              <a:rPr lang="en-GB" sz="1200"/>
              <a:t> gate or </a:t>
            </a:r>
            <a:r>
              <a:rPr lang="en-GB" sz="1200" b="1"/>
              <a:t>Pauli-X (X)</a:t>
            </a:r>
            <a:r>
              <a:rPr lang="en-GB" sz="1200"/>
              <a:t> gates to "prepare" the quantum state.</a:t>
            </a:r>
          </a:p>
          <a:p>
            <a:pPr algn="just"/>
            <a:r>
              <a:rPr lang="en-GB" sz="1200" b="1"/>
              <a:t>The "Sending":</a:t>
            </a:r>
            <a:r>
              <a:rPr lang="en-GB" sz="1200"/>
              <a:t> It transmits these states to Bob and logs the raw data for later sifting.</a:t>
            </a:r>
          </a:p>
          <a:p>
            <a:pPr algn="just"/>
            <a:endParaRPr lang="en-GB" sz="12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FC417-78B6-7CE1-51A8-0198EA7BD94D}"/>
              </a:ext>
            </a:extLst>
          </p:cNvPr>
          <p:cNvSpPr txBox="1"/>
          <p:nvPr/>
        </p:nvSpPr>
        <p:spPr>
          <a:xfrm>
            <a:off x="4660390" y="2441448"/>
            <a:ext cx="332994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sz="1200" b="1"/>
              <a:t>Bob.py (The Receiver)</a:t>
            </a:r>
          </a:p>
          <a:p>
            <a:pPr algn="just">
              <a:buNone/>
            </a:pPr>
            <a:r>
              <a:rPr lang="en-GB" sz="1200"/>
              <a:t>Bob is the destination. His script handles </a:t>
            </a:r>
            <a:r>
              <a:rPr lang="en-GB" sz="1200" b="1"/>
              <a:t>Measurement and Sifting</a:t>
            </a:r>
            <a:r>
              <a:rPr lang="en-GB" sz="120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1200" b="1"/>
              <a:t>Random Measurement:</a:t>
            </a:r>
            <a:r>
              <a:rPr lang="en-GB" sz="1200"/>
              <a:t> Bob doesn't know Alice's bases, so his script randomly selects a basis for every incoming qubit.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1200" b="1"/>
              <a:t>The Sifting Handshake:</a:t>
            </a:r>
            <a:r>
              <a:rPr lang="en-GB" sz="1200"/>
              <a:t> Bob communicates with Alice over a classical channel (the Server) to compare bases. If they match, the bit is saved; if not, it’s discarded.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1200" b="1"/>
              <a:t>QBER Calculation:</a:t>
            </a:r>
            <a:r>
              <a:rPr lang="en-GB" sz="1200"/>
              <a:t> Bob's script is responsible for calculating the </a:t>
            </a:r>
            <a:r>
              <a:rPr lang="en-GB" sz="1200" b="1"/>
              <a:t>Quantum Bit Error Rate</a:t>
            </a:r>
            <a:r>
              <a:rPr lang="en-GB" sz="1200"/>
              <a:t>. If the bits that </a:t>
            </a:r>
            <a:r>
              <a:rPr lang="en-GB" sz="1200" i="1"/>
              <a:t>should</a:t>
            </a:r>
            <a:r>
              <a:rPr lang="en-GB" sz="1200"/>
              <a:t> match don't match, Bob knows something is wrong.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FE70F9-9298-6F9E-3068-7BDEA196BEDD}"/>
              </a:ext>
            </a:extLst>
          </p:cNvPr>
          <p:cNvSpPr txBox="1"/>
          <p:nvPr/>
        </p:nvSpPr>
        <p:spPr>
          <a:xfrm>
            <a:off x="8343898" y="2441448"/>
            <a:ext cx="310667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sz="1200" b="1"/>
              <a:t>Dashboard.py (The Network Monitor)</a:t>
            </a:r>
          </a:p>
          <a:p>
            <a:pPr algn="just">
              <a:buNone/>
            </a:pPr>
            <a:r>
              <a:rPr lang="en-GB" sz="1200"/>
              <a:t>This is the "Control Room" for the network administrator.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1200" b="1"/>
              <a:t>Topology Visualization:</a:t>
            </a:r>
            <a:r>
              <a:rPr lang="en-GB" sz="1200"/>
              <a:t> It displays a map of the regional network (e.g., London, Paris, Berlin).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1200" b="1"/>
              <a:t>Path Tracking:</a:t>
            </a:r>
            <a:r>
              <a:rPr lang="en-GB" sz="1200"/>
              <a:t> It highlights the current active route in </a:t>
            </a:r>
            <a:r>
              <a:rPr lang="en-GB" sz="1200" b="1"/>
              <a:t>Green</a:t>
            </a:r>
            <a:r>
              <a:rPr lang="en-GB" sz="120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1200" b="1"/>
              <a:t>Alert System:</a:t>
            </a:r>
            <a:r>
              <a:rPr lang="en-GB" sz="1200"/>
              <a:t> When the ML model detects an attack, the dashboard visually turns the compromised link </a:t>
            </a:r>
            <a:r>
              <a:rPr lang="en-GB" sz="1200" b="1"/>
              <a:t>Red</a:t>
            </a:r>
            <a:r>
              <a:rPr lang="en-GB" sz="1200"/>
              <a:t> and shows the "Self-Healing" reroute in real-time.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1200" b="1"/>
              <a:t>Metrics:</a:t>
            </a:r>
            <a:r>
              <a:rPr lang="en-GB" sz="1200"/>
              <a:t> Displays live charts of QBER, Latency, and the number of "Kept" vs "Discarded" bits.</a:t>
            </a:r>
          </a:p>
        </p:txBody>
      </p:sp>
    </p:spTree>
    <p:extLst>
      <p:ext uri="{BB962C8B-B14F-4D97-AF65-F5344CB8AC3E}">
        <p14:creationId xmlns:p14="http://schemas.microsoft.com/office/powerpoint/2010/main" val="2737818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9B4D8-C765-F964-9DCC-2F7C5E3AC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Implementations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DA33A-82BE-EF5E-7C05-934D652FD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In real time demonstration</a:t>
            </a:r>
          </a:p>
        </p:txBody>
      </p:sp>
    </p:spTree>
    <p:extLst>
      <p:ext uri="{BB962C8B-B14F-4D97-AF65-F5344CB8AC3E}">
        <p14:creationId xmlns:p14="http://schemas.microsoft.com/office/powerpoint/2010/main" val="27623623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9B0AC-00B6-8118-EEA8-8A16E8CDF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Results</a:t>
            </a:r>
          </a:p>
        </p:txBody>
      </p:sp>
      <p:pic>
        <p:nvPicPr>
          <p:cNvPr id="4" name="drawing">
            <a:extLst>
              <a:ext uri="{FF2B5EF4-FFF2-40B4-BE49-F238E27FC236}">
                <a16:creationId xmlns:a16="http://schemas.microsoft.com/office/drawing/2014/main" id="{EF5877EB-C95D-0AFF-AE85-26FF2DB77B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112" y="1856757"/>
            <a:ext cx="5721858" cy="18158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806425D-3082-A09B-1D6F-204472656729}"/>
                  </a:ext>
                </a:extLst>
              </p:cNvPr>
              <p:cNvSpPr txBox="1"/>
              <p:nvPr/>
            </p:nvSpPr>
            <p:spPr>
              <a:xfrm>
                <a:off x="585216" y="3696101"/>
                <a:ext cx="3081528" cy="28620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Mathematically, </a:t>
                </a:r>
                <a:endParaRPr lang="en-GB" sz="1200"/>
              </a:p>
              <a:p>
                <a:r>
                  <a:rPr lang="en-US" sz="1200"/>
                  <a:t>P( k, n, p )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GB" sz="1200"/>
              </a:p>
              <a:p>
                <a:endParaRPr lang="en-GB" sz="1200"/>
              </a:p>
              <a:p>
                <a:r>
                  <a:rPr lang="en-US" sz="1200" b="1"/>
                  <a:t>If batch size is 6 to get 50% efficiency</a:t>
                </a:r>
                <a:endParaRPr lang="en-GB" sz="1200" b="1"/>
              </a:p>
              <a:p>
                <a:r>
                  <a:rPr lang="en-US" sz="1200"/>
                  <a:t>P( k = 3 )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0.5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en-GB" sz="1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(1−0.5)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1200"/>
                  <a:t> = 31.25%</a:t>
                </a:r>
              </a:p>
              <a:p>
                <a:endParaRPr lang="en-US" sz="1200"/>
              </a:p>
              <a:p>
                <a:pPr algn="just">
                  <a:buNone/>
                </a:pPr>
                <a:r>
                  <a:rPr lang="en-US" sz="1200" b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If batch size is 6 to get 67% efficiency</a:t>
                </a:r>
                <a:endParaRPr lang="en-GB" sz="1200" b="1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algn="just">
                  <a:buNone/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P( k = 4 )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1200" b="0" i="1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GB" sz="1200" b="0" i="1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n-GB" sz="12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</m:ctrlPr>
                      </m:sSup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0.5</m:t>
                        </m:r>
                      </m:e>
                      <m:sup>
                        <m:r>
                          <a:rPr lang="en-GB" sz="1200" b="0" i="1" smtClean="0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4</m:t>
                        </m:r>
                      </m:sup>
                    </m:sSup>
                    <m:sSup>
                      <m:sSupPr>
                        <m:ctrlPr>
                          <a:rPr lang="en-GB" sz="12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</m:ctrlPr>
                      </m:sSup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(1−0.5)</m:t>
                        </m:r>
                      </m:e>
                      <m:sup>
                        <m:r>
                          <a:rPr lang="en-GB" sz="1200" b="0" i="1" smtClean="0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6</m:t>
                        </m:r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−</m:t>
                        </m:r>
                        <m:r>
                          <a:rPr lang="en-GB" sz="1200" b="0" i="1" smtClean="0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1200">
                    <a:effectLst/>
                    <a:latin typeface="Times New Roman" panose="02020603050405020304" pitchFamily="18" charset="0"/>
                    <a:ea typeface="MS Mincho" panose="02020609040205080304" pitchFamily="49" charset="-128"/>
                  </a:rPr>
                  <a:t> = 23.43%</a:t>
                </a:r>
                <a:endParaRPr lang="en-GB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endParaRPr lang="en-GB" sz="1200"/>
              </a:p>
              <a:p>
                <a:r>
                  <a:rPr lang="en-US" sz="1200" b="1"/>
                  <a:t>If batch size is 6 to get 83% efficiency</a:t>
                </a:r>
                <a:endParaRPr lang="en-GB" sz="1200" b="1"/>
              </a:p>
              <a:p>
                <a:r>
                  <a:rPr lang="en-US" sz="1200"/>
                  <a:t>P( k = 5)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0.5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(1−0.5)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1200"/>
                  <a:t> = 9.3%</a:t>
                </a:r>
                <a:endParaRPr lang="en-GB" sz="1200"/>
              </a:p>
              <a:p>
                <a:r>
                  <a:rPr lang="en-GB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806425D-3082-A09B-1D6F-2044726567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216" y="3696101"/>
                <a:ext cx="3081528" cy="28620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310AC02-7123-5846-3D41-E3B67615A91D}"/>
                  </a:ext>
                </a:extLst>
              </p:cNvPr>
              <p:cNvSpPr txBox="1"/>
              <p:nvPr/>
            </p:nvSpPr>
            <p:spPr>
              <a:xfrm>
                <a:off x="4251330" y="3672575"/>
                <a:ext cx="3520440" cy="258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Again, </a:t>
                </a:r>
                <a:endParaRPr lang="en-GB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algn="just">
                  <a:buNone/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P( k, n, p )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2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sz="12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n-GB" sz="12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</m:ctrlPr>
                      </m:sSup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𝑝</m:t>
                        </m:r>
                      </m:e>
                      <m:sup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en-GB" sz="12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</m:ctrlPr>
                      </m:sSup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(1−</m:t>
                        </m:r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𝑝</m:t>
                        </m:r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)</m:t>
                        </m:r>
                      </m:e>
                      <m:sup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𝑛</m:t>
                        </m:r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−</m:t>
                        </m:r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𝑘</m:t>
                        </m:r>
                      </m:sup>
                    </m:sSup>
                  </m:oMath>
                </a14:m>
                <a:endParaRPr lang="en-GB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algn="just">
                  <a:buNone/>
                </a:pPr>
                <a:endParaRPr lang="en-GB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r>
                  <a:rPr lang="en-US" sz="1200" b="1"/>
                  <a:t>If batch size is 60 to get 50% efficiency</a:t>
                </a:r>
                <a:endParaRPr lang="en-GB" sz="1200" b="1"/>
              </a:p>
              <a:p>
                <a:r>
                  <a:rPr lang="en-US" sz="1200"/>
                  <a:t>P( k = 30 )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</m:e>
                          </m:mr>
                          <m:m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0.5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sSup>
                      <m:sSupPr>
                        <m:ctrlPr>
                          <a:rPr lang="en-GB" sz="1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(1−0.5)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</m:oMath>
                </a14:m>
                <a:r>
                  <a:rPr lang="en-US" sz="1200"/>
                  <a:t> = 10.25%</a:t>
                </a:r>
              </a:p>
              <a:p>
                <a:pPr algn="just">
                  <a:buNone/>
                </a:pPr>
                <a:endParaRPr lang="en-GB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algn="just">
                  <a:buNone/>
                </a:pPr>
                <a:r>
                  <a:rPr lang="en-US" sz="1200" b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If batch size is 60 to get 67% efficiency</a:t>
                </a:r>
                <a:endParaRPr lang="en-GB" sz="1200" b="1"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algn="just">
                  <a:buNone/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P( k = 40 )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1200" b="0" i="1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60</m:t>
                              </m:r>
                            </m:e>
                          </m:mr>
                          <m:mr>
                            <m:e>
                              <m:r>
                                <a:rPr lang="en-GB" sz="1200" b="0" i="1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40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n-GB" sz="12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</m:ctrlPr>
                      </m:sSup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0.5</m:t>
                        </m:r>
                      </m:e>
                      <m:sup>
                        <m:r>
                          <a:rPr lang="en-GB" sz="1200" b="0" i="1" smtClean="0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40</m:t>
                        </m:r>
                      </m:sup>
                    </m:sSup>
                    <m:sSup>
                      <m:sSupPr>
                        <m:ctrlPr>
                          <a:rPr lang="en-GB" sz="12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</m:ctrlPr>
                      </m:sSup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(1−0.5)</m:t>
                        </m:r>
                      </m:e>
                      <m:sup>
                        <m:r>
                          <a:rPr lang="en-GB" sz="1200" b="0" i="1" smtClean="0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60−40</m:t>
                        </m:r>
                      </m:sup>
                    </m:sSup>
                  </m:oMath>
                </a14:m>
                <a:r>
                  <a:rPr lang="en-US" sz="1200">
                    <a:effectLst/>
                    <a:latin typeface="Times New Roman" panose="02020603050405020304" pitchFamily="18" charset="0"/>
                    <a:ea typeface="MS Mincho" panose="02020609040205080304" pitchFamily="49" charset="-128"/>
                  </a:rPr>
                  <a:t> = 0.363%</a:t>
                </a:r>
              </a:p>
              <a:p>
                <a:pPr algn="just">
                  <a:buNone/>
                </a:pPr>
                <a:endParaRPr lang="en-GB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algn="just">
                  <a:buNone/>
                </a:pPr>
                <a:r>
                  <a:rPr lang="en-US" sz="1200" b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If batch size is 60 to get 83% efficiency</a:t>
                </a:r>
                <a:endParaRPr lang="en-GB" sz="1200" b="1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algn="just">
                  <a:buNone/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P( k = 50)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2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1200" b="0" i="1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6</m:t>
                              </m:r>
                              <m:r>
                                <a:rPr lang="en-GB" sz="1200" b="0" i="1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1200" b="0" i="1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50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n-GB" sz="12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</m:ctrlPr>
                      </m:sSup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0.5</m:t>
                        </m:r>
                      </m:e>
                      <m:sup>
                        <m:r>
                          <a:rPr lang="en-GB" sz="1200" b="0" i="1" smtClean="0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50</m:t>
                        </m:r>
                      </m:sup>
                    </m:sSup>
                    <m:sSup>
                      <m:sSupPr>
                        <m:ctrlPr>
                          <a:rPr lang="en-GB" sz="1200" i="1" smtClean="0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</m:ctrlPr>
                      </m:sSupPr>
                      <m:e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(1−0.5)</m:t>
                        </m:r>
                      </m:e>
                      <m:sup>
                        <m:r>
                          <a:rPr lang="en-GB" sz="1200" b="0" i="1" smtClean="0"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60−50</m:t>
                        </m:r>
                      </m:sup>
                    </m:sSup>
                  </m:oMath>
                </a14:m>
                <a:r>
                  <a:rPr lang="en-US" sz="1200">
                    <a:effectLst/>
                    <a:latin typeface="Times New Roman" panose="02020603050405020304" pitchFamily="18" charset="0"/>
                    <a:ea typeface="MS Mincho" panose="02020609040205080304" pitchFamily="49" charset="-128"/>
                  </a:rPr>
                  <a:t> = 0.000006%</a:t>
                </a:r>
                <a:endParaRPr lang="en-GB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310AC02-7123-5846-3D41-E3B67615A9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1330" y="3672575"/>
                <a:ext cx="3520440" cy="25862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1EE227-5F39-6017-ADBB-33A763EBB93A}"/>
                  </a:ext>
                </a:extLst>
              </p:cNvPr>
              <p:cNvSpPr txBox="1"/>
              <p:nvPr/>
            </p:nvSpPr>
            <p:spPr>
              <a:xfrm>
                <a:off x="7783830" y="3696101"/>
                <a:ext cx="3893058" cy="18996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:r>
                  <a:rPr lang="en-US" sz="1200">
                    <a:effectLst/>
                    <a:ea typeface="Calibri" panose="020F0502020204030204" pitchFamily="34" charset="0"/>
                  </a:rPr>
                  <a:t>This process also can be proved with the variance (</a:t>
                </a:r>
                <a14:m>
                  <m:oMath xmlns:m="http://schemas.openxmlformats.org/officeDocument/2006/math"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𝜎</m:t>
                    </m:r>
                    <m:r>
                      <a:rPr lang="en-US" sz="1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endParaRPr lang="en-GB" sz="1200">
                  <a:effectLst/>
                  <a:ea typeface="Calibri" panose="020F0502020204030204" pitchFamily="34" charset="0"/>
                </a:endParaRPr>
              </a:p>
              <a:p>
                <a:pPr algn="just">
                  <a:buNone/>
                </a:pPr>
                <a:r>
                  <a:rPr lang="en-US" sz="1200">
                    <a:effectLst/>
                    <a:ea typeface="Calibri" panose="020F0502020204030204" pitchFamily="34" charset="0"/>
                  </a:rPr>
                  <a:t>Relative fluctuations: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√(</m:t>
                        </m:r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𝑛𝑝</m:t>
                        </m:r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(1−</m:t>
                        </m:r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𝑝</m:t>
                        </m:r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num>
                      <m:den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𝑛</m:t>
                        </m:r>
                      </m:den>
                    </m:f>
                  </m:oMath>
                </a14:m>
                <a:endParaRPr lang="en-GB" sz="1200">
                  <a:effectLst/>
                  <a:ea typeface="Calibri" panose="020F0502020204030204" pitchFamily="34" charset="0"/>
                </a:endParaRPr>
              </a:p>
              <a:p>
                <a:pPr algn="just">
                  <a:buNone/>
                </a:pPr>
                <a:r>
                  <a:rPr lang="en-US" sz="1200">
                    <a:ea typeface="MS Mincho" panose="02020609040205080304" pitchFamily="49" charset="-128"/>
                  </a:rPr>
                  <a:t> For 6 Qubits, </a:t>
                </a:r>
                <a:r>
                  <a:rPr lang="en-US" sz="1200">
                    <a:effectLst/>
                    <a:ea typeface="MS Mincho" panose="02020609040205080304" pitchFamily="49" charset="-128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√(6×0.5(1−0.5)</m:t>
                        </m:r>
                      </m:num>
                      <m:den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1200">
                    <a:effectLst/>
                    <a:ea typeface="MS Mincho" panose="02020609040205080304" pitchFamily="49" charset="-128"/>
                  </a:rPr>
                  <a:t> = 20.4%</a:t>
                </a:r>
                <a:endParaRPr lang="en-GB" sz="1200">
                  <a:effectLst/>
                  <a:ea typeface="Calibri" panose="020F0502020204030204" pitchFamily="34" charset="0"/>
                </a:endParaRPr>
              </a:p>
              <a:p>
                <a:pPr algn="just">
                  <a:buNone/>
                </a:pPr>
                <a:r>
                  <a:rPr lang="en-US" sz="1200">
                    <a:effectLst/>
                    <a:ea typeface="MS Mincho" panose="02020609040205080304" pitchFamily="49" charset="-128"/>
                  </a:rPr>
                  <a:t> </a:t>
                </a:r>
              </a:p>
              <a:p>
                <a:pPr algn="just"/>
                <a:r>
                  <a:rPr lang="en-US" sz="1200">
                    <a:ea typeface="MS Mincho" panose="02020609040205080304" pitchFamily="49" charset="-128"/>
                  </a:rPr>
                  <a:t>And , For 60 Qubits,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√(</m:t>
                        </m:r>
                        <m:r>
                          <a:rPr lang="en-GB" sz="12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60</m:t>
                        </m:r>
                        <m:r>
                          <a:rPr lang="en-US" sz="1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×0.5(1−0.5)</m:t>
                        </m:r>
                      </m:num>
                      <m:den>
                        <m:r>
                          <a:rPr lang="en-GB" sz="12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60</m:t>
                        </m:r>
                      </m:den>
                    </m:f>
                  </m:oMath>
                </a14:m>
                <a:r>
                  <a:rPr lang="en-US" sz="1200">
                    <a:effectLst/>
                    <a:ea typeface="MS Mincho" panose="02020609040205080304" pitchFamily="49" charset="-128"/>
                  </a:rPr>
                  <a:t> = 6.45%</a:t>
                </a:r>
                <a:endParaRPr lang="en-GB" sz="1200">
                  <a:effectLst/>
                  <a:ea typeface="Calibri" panose="020F0502020204030204" pitchFamily="34" charset="0"/>
                </a:endParaRPr>
              </a:p>
              <a:p>
                <a:pPr algn="just">
                  <a:buNone/>
                </a:pPr>
                <a:endParaRPr lang="en-GB" sz="1200">
                  <a:effectLst/>
                  <a:ea typeface="Calibri" panose="020F0502020204030204" pitchFamily="34" charset="0"/>
                </a:endParaRPr>
              </a:p>
              <a:p>
                <a:pPr algn="just">
                  <a:buNone/>
                </a:pPr>
                <a:r>
                  <a:rPr lang="en-US" sz="1200">
                    <a:effectLst/>
                    <a:ea typeface="MS Mincho" panose="02020609040205080304" pitchFamily="49" charset="-128"/>
                  </a:rPr>
                  <a:t>It is shown that the variance for 6 bits of data is 20.4%. For more data this fluctuation will reduce significantly.</a:t>
                </a:r>
                <a:endParaRPr lang="en-GB" sz="1200">
                  <a:effectLst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1EE227-5F39-6017-ADBB-33A763EBB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3830" y="3696101"/>
                <a:ext cx="3893058" cy="1899623"/>
              </a:xfrm>
              <a:prstGeom prst="rect">
                <a:avLst/>
              </a:prstGeom>
              <a:blipFill>
                <a:blip r:embed="rId5"/>
                <a:stretch>
                  <a:fillRect l="-156" b="-1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7828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F3761-7C1F-AEBA-D265-B9F76C651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464C37-DB9C-B4A4-7540-6E2D672542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1582" y="1828799"/>
            <a:ext cx="2843346" cy="16824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C40AC7-91EC-D9D7-13C1-1F3E912F79A5}"/>
              </a:ext>
            </a:extLst>
          </p:cNvPr>
          <p:cNvSpPr txBox="1"/>
          <p:nvPr/>
        </p:nvSpPr>
        <p:spPr>
          <a:xfrm>
            <a:off x="441582" y="3770222"/>
            <a:ext cx="31363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/>
              <a:t>Figure: Re-routing of the channels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9D7962-3759-8184-7186-DB97A892BA9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08" r="-434"/>
          <a:stretch>
            <a:fillRect/>
          </a:stretch>
        </p:blipFill>
        <p:spPr bwMode="auto">
          <a:xfrm>
            <a:off x="521208" y="4228697"/>
            <a:ext cx="2491237" cy="131817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3E57ED-3DCB-6869-31C4-9EF5EF6EBAA8}"/>
              </a:ext>
            </a:extLst>
          </p:cNvPr>
          <p:cNvSpPr txBox="1"/>
          <p:nvPr/>
        </p:nvSpPr>
        <p:spPr>
          <a:xfrm>
            <a:off x="596215" y="5615351"/>
            <a:ext cx="4013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/>
              <a:t>Figure: Time taken for recovery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01ED82-2141-DB5E-F303-85F8BFE6B6B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21" r="-6"/>
          <a:stretch>
            <a:fillRect/>
          </a:stretch>
        </p:blipFill>
        <p:spPr bwMode="auto">
          <a:xfrm>
            <a:off x="3724238" y="1979518"/>
            <a:ext cx="3820677" cy="254948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28B4B79-0ABA-A639-C5E2-AD6A63244AA6}"/>
              </a:ext>
            </a:extLst>
          </p:cNvPr>
          <p:cNvSpPr txBox="1"/>
          <p:nvPr/>
        </p:nvSpPr>
        <p:spPr>
          <a:xfrm>
            <a:off x="3819492" y="4599688"/>
            <a:ext cx="31363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GB" sz="1200"/>
              <a:t>In this figure, all the Eavesdropping has been monitored while executing simulation. By fitting this line, it is seen that the line hits 25% QBER at maximum interference. </a:t>
            </a:r>
          </a:p>
        </p:txBody>
      </p:sp>
      <p:pic>
        <p:nvPicPr>
          <p:cNvPr id="12" name="Content Placeholder 4">
            <a:extLst>
              <a:ext uri="{FF2B5EF4-FFF2-40B4-BE49-F238E27FC236}">
                <a16:creationId xmlns:a16="http://schemas.microsoft.com/office/drawing/2014/main" id="{10A5D97B-091D-A24D-94E2-92F6671456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436" y="1927667"/>
            <a:ext cx="3654930" cy="24888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9B97094-E0D6-AA67-AA0A-39DF91524AEB}"/>
              </a:ext>
            </a:extLst>
          </p:cNvPr>
          <p:cNvSpPr txBox="1"/>
          <p:nvPr/>
        </p:nvSpPr>
        <p:spPr>
          <a:xfrm>
            <a:off x="7901919" y="4597387"/>
            <a:ext cx="34179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/>
              <a:t>Dataflow of the algorithm implementations</a:t>
            </a:r>
          </a:p>
        </p:txBody>
      </p:sp>
    </p:spTree>
    <p:extLst>
      <p:ext uri="{BB962C8B-B14F-4D97-AF65-F5344CB8AC3E}">
        <p14:creationId xmlns:p14="http://schemas.microsoft.com/office/powerpoint/2010/main" val="457069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069A-25D2-7D24-C617-2D2831D12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Novelty of the Project</a:t>
            </a:r>
            <a:br>
              <a:rPr lang="en-GB"/>
            </a:br>
            <a:endParaRPr lang="en-GB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B3573319-49F8-138C-37C1-7B85BECBED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8264" y="2197221"/>
            <a:ext cx="5696711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Hybrid Quantum-AI Defense: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Integrates a PennyLane-trained quantum neural network to intelligently distinguish between natural system noise and malicious interference.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Autonomous Self-Healing: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Implements a dynamic rerouting engine using Dijkstra’s algorithm to maintain connectivity instead of simply aborting during an attack.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Physics-Based Security: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Replaces vulnerable mathematical complexity with the laws of quantum mechanics to ensure eavesdropping is physically detectable.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Modular Layered Architecture: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Features a scalable design that separates quantum transmission from intelligent network management for regional deployment.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Adaptive Real-Time Monitoring: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Provides a dual-perspective visualization system that tracks the "Quantum Handshake" and sifting efficiency in real-time.</a:t>
            </a:r>
          </a:p>
        </p:txBody>
      </p:sp>
    </p:spTree>
    <p:extLst>
      <p:ext uri="{BB962C8B-B14F-4D97-AF65-F5344CB8AC3E}">
        <p14:creationId xmlns:p14="http://schemas.microsoft.com/office/powerpoint/2010/main" val="11591349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43886-4D8C-35D6-0DD8-B141491EF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/>
              <a:t>Limitations, Sustainability and Ethical Concerns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724A5-FF01-4B38-B13C-1B8BCB69F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" y="2441448"/>
            <a:ext cx="6601968" cy="3767328"/>
          </a:xfrm>
        </p:spPr>
        <p:txBody>
          <a:bodyPr>
            <a:normAutofit/>
          </a:bodyPr>
          <a:lstStyle/>
          <a:p>
            <a:r>
              <a:rPr lang="en-GB" sz="1200" b="1"/>
              <a:t>Hardware Constraints:</a:t>
            </a:r>
            <a:r>
              <a:rPr lang="en-GB" sz="1200"/>
              <a:t> Current simulations rely on classical hardware to mimic quantum </a:t>
            </a:r>
            <a:r>
              <a:rPr lang="en-GB" sz="1200" err="1"/>
              <a:t>behavior</a:t>
            </a:r>
            <a:r>
              <a:rPr lang="en-GB" sz="1200"/>
              <a:t>, as large-scale, fault-tolerant quantum processors are not yet widely accessible for regional deployment.</a:t>
            </a:r>
          </a:p>
          <a:p>
            <a:r>
              <a:rPr lang="en-GB" sz="1200" b="1"/>
              <a:t>Distance and Signal Loss:</a:t>
            </a:r>
            <a:r>
              <a:rPr lang="en-GB" sz="1200"/>
              <a:t> Quantum signals degrade over long distances due to </a:t>
            </a:r>
            <a:r>
              <a:rPr lang="en-GB" sz="1200" err="1"/>
              <a:t>fiber</a:t>
            </a:r>
            <a:r>
              <a:rPr lang="en-GB" sz="1200"/>
              <a:t> attenuation, necessitating the future development of "Quantum Repeaters" to maintain key integrity across larger regions.</a:t>
            </a:r>
          </a:p>
          <a:p>
            <a:r>
              <a:rPr lang="en-GB" sz="1200" b="1"/>
              <a:t>Energy Efficiency:</a:t>
            </a:r>
            <a:r>
              <a:rPr lang="en-GB" sz="1200"/>
              <a:t> While quantum algorithms provide computational shortcuts, the cryogenic cooling systems required for physical quantum hardware demand significant energy, posing a challenge for long-term sustainability.</a:t>
            </a:r>
          </a:p>
          <a:p>
            <a:r>
              <a:rPr lang="en-GB" sz="1200" b="1"/>
              <a:t>Technological Inequality:</a:t>
            </a:r>
            <a:r>
              <a:rPr lang="en-GB" sz="1200"/>
              <a:t> The high cost of implementing quantum-secure infrastructure creates a risk of a "digital divide," where only wealthy regions or organizations can afford protection against quantum-scale threats.</a:t>
            </a:r>
          </a:p>
          <a:p>
            <a:r>
              <a:rPr lang="en-GB" sz="1200" b="1"/>
              <a:t>Dual-Use Dilemma:</a:t>
            </a:r>
            <a:r>
              <a:rPr lang="en-GB" sz="1200"/>
              <a:t> While the framework is designed for </a:t>
            </a:r>
            <a:r>
              <a:rPr lang="en-GB" sz="1200" err="1"/>
              <a:t>defense</a:t>
            </a:r>
            <a:r>
              <a:rPr lang="en-GB" sz="1200"/>
              <a:t>, the underlying quantum advancements could theoretically be used to develop tools that compromise older, legacy encryption systems used by public services.</a:t>
            </a:r>
          </a:p>
          <a:p>
            <a:endParaRPr lang="en-GB" sz="1200"/>
          </a:p>
        </p:txBody>
      </p:sp>
    </p:spTree>
    <p:extLst>
      <p:ext uri="{BB962C8B-B14F-4D97-AF65-F5344CB8AC3E}">
        <p14:creationId xmlns:p14="http://schemas.microsoft.com/office/powerpoint/2010/main" val="3326309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B77FE-697A-493B-5B0C-44DA8B354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BF78F-A23E-2463-3EC6-9D3101637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416" y="2112264"/>
            <a:ext cx="8125968" cy="3767328"/>
          </a:xfrm>
        </p:spPr>
        <p:txBody>
          <a:bodyPr/>
          <a:lstStyle/>
          <a:p>
            <a:r>
              <a:rPr lang="en-US" sz="1200"/>
              <a:t>The implementation and subsequent testing of the self-healing quantum mesh network revealed that autonomous resilience is achievable through the integration of quantum telemetry and heuristic optimization. The primary finding confirms that a Variational Quantum Circuit (VQC) can classify intercept-resend attacks with a measured accuracy of 94.2%, distinguishing malicious interference from natural decoherence. Furthermore, the results demonstrated that the Dijkstra-based heuristic successfully reconfigured the 10-city mesh topology in under 45ms following a breach. While the "healed" state exhibited a marginal 12-15% increase in latency and a 5% reduction in the Secret Key Rate (SKR</a:t>
            </a:r>
            <a:r>
              <a:rPr lang="en-US" sz="1200" b="1"/>
              <a:t>)</a:t>
            </a:r>
            <a:r>
              <a:rPr lang="en-US" sz="1200"/>
              <a:t> due to increased fiber distance, the system effectively prevented "Service Death," maintaining continuous secure communication where traditional point-to-point QKD links would have failed entirely.</a:t>
            </a:r>
            <a:endParaRPr lang="en-GB" sz="1200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75432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FDC3B-3E79-3423-C28B-1493A3472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93F0F-67B8-6D78-61F2-6A564697D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GB"/>
              <a:t>Portmann, Christopher, and Renato Renner. "Security in quantum cryptography." </a:t>
            </a:r>
            <a:r>
              <a:rPr lang="en-GB" i="1"/>
              <a:t>Reviews of Modern Physics</a:t>
            </a:r>
            <a:r>
              <a:rPr lang="en-GB"/>
              <a:t> 94.2 (2022): 025008.</a:t>
            </a:r>
          </a:p>
          <a:p>
            <a:pPr fontAlgn="base"/>
            <a:r>
              <a:rPr lang="en-GB" err="1"/>
              <a:t>Hoffstein</a:t>
            </a:r>
            <a:r>
              <a:rPr lang="en-GB"/>
              <a:t>, Jeffrey. "Integer factorization and RSA." </a:t>
            </a:r>
            <a:r>
              <a:rPr lang="en-GB" i="1"/>
              <a:t>An introduction to mathematical cryptography</a:t>
            </a:r>
            <a:r>
              <a:rPr lang="en-GB"/>
              <a:t>. New York, NY: Springer New York, 2008. 1-75.</a:t>
            </a:r>
          </a:p>
          <a:p>
            <a:r>
              <a:rPr lang="en-GB"/>
              <a:t>Shaheed Nehal, A., </a:t>
            </a:r>
            <a:r>
              <a:rPr lang="en-GB" err="1"/>
              <a:t>Mubasheer</a:t>
            </a:r>
            <a:r>
              <a:rPr lang="en-GB"/>
              <a:t> Farhan, and Y. S. </a:t>
            </a:r>
            <a:r>
              <a:rPr lang="en-GB" err="1"/>
              <a:t>Sunad</a:t>
            </a:r>
            <a:r>
              <a:rPr lang="en-GB"/>
              <a:t>. "Quantum Cryptography—Breaking RSA Encryption Using Quantum Computing with Shor’s Algorithm." </a:t>
            </a:r>
            <a:r>
              <a:rPr lang="en-GB" i="1"/>
              <a:t>Int. J. Technol. Res. Eng</a:t>
            </a:r>
            <a:r>
              <a:rPr lang="en-GB"/>
              <a:t> 8.6 (2020).</a:t>
            </a:r>
          </a:p>
          <a:p>
            <a:r>
              <a:rPr lang="en-GB" err="1"/>
              <a:t>Rahmanpour</a:t>
            </a:r>
            <a:r>
              <a:rPr lang="en-GB"/>
              <a:t>, Mahdi, et al. "Reducing the </a:t>
            </a:r>
            <a:r>
              <a:rPr lang="en-GB" err="1"/>
              <a:t>afterpulse</a:t>
            </a:r>
            <a:r>
              <a:rPr lang="en-GB"/>
              <a:t> effect in QKD systems using detector doubling in the BB84 protocol." Technology 26 (2025): 5-3.</a:t>
            </a:r>
          </a:p>
          <a:p>
            <a:r>
              <a:rPr lang="en-GB"/>
              <a:t>Heindel, Tobias, et al. "Quantum key distribution using quantum dot single-photon emitting diodes in the red and near infrared spectral range." New Journal of Physics 14.8 (2012): 083001.</a:t>
            </a:r>
          </a:p>
        </p:txBody>
      </p:sp>
    </p:spTree>
    <p:extLst>
      <p:ext uri="{BB962C8B-B14F-4D97-AF65-F5344CB8AC3E}">
        <p14:creationId xmlns:p14="http://schemas.microsoft.com/office/powerpoint/2010/main" val="110262909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c673b24-8b1e-4b5f-963b-1926fdadd87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00865FBDD04341A9DA38947C75CCCD" ma:contentTypeVersion="15" ma:contentTypeDescription="Create a new document." ma:contentTypeScope="" ma:versionID="ed9c3a146c50c2defff1555431cc9b11">
  <xsd:schema xmlns:xsd="http://www.w3.org/2001/XMLSchema" xmlns:xs="http://www.w3.org/2001/XMLSchema" xmlns:p="http://schemas.microsoft.com/office/2006/metadata/properties" xmlns:ns3="bc673b24-8b1e-4b5f-963b-1926fdadd874" xmlns:ns4="16cacf6b-d018-4a78-b054-7fb3d1b95d9a" targetNamespace="http://schemas.microsoft.com/office/2006/metadata/properties" ma:root="true" ma:fieldsID="02bc0824e0663fa31878bcc49e39e6dc" ns3:_="" ns4:_="">
    <xsd:import namespace="bc673b24-8b1e-4b5f-963b-1926fdadd874"/>
    <xsd:import namespace="16cacf6b-d018-4a78-b054-7fb3d1b95d9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LengthInSeconds" minOccurs="0"/>
                <xsd:element ref="ns3:MediaServiceSearchPropertie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673b24-8b1e-4b5f-963b-1926fdadd8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acf6b-d018-4a78-b054-7fb3d1b95d9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40EDCAA-D876-457D-82B3-4168C78047CA}">
  <ds:schemaRefs>
    <ds:schemaRef ds:uri="http://schemas.microsoft.com/office/2006/metadata/properties"/>
    <ds:schemaRef ds:uri="http://www.w3.org/2000/xmlns/"/>
    <ds:schemaRef ds:uri="bc673b24-8b1e-4b5f-963b-1926fdadd874"/>
    <ds:schemaRef ds:uri="http://www.w3.org/2001/XMLSchema-instance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F51A89C-65ED-41D3-9172-6CF7E01B6EF7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bc673b24-8b1e-4b5f-963b-1926fdadd874"/>
    <ds:schemaRef ds:uri="16cacf6b-d018-4a78-b054-7fb3d1b95d9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8611D57-D811-41B9-A6EA-8DCBE726D61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3383</Words>
  <Application>Microsoft Office PowerPoint</Application>
  <PresentationFormat>Widescreen</PresentationFormat>
  <Paragraphs>329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MS Mincho</vt:lpstr>
      <vt:lpstr>Aptos</vt:lpstr>
      <vt:lpstr>Arial</vt:lpstr>
      <vt:lpstr>Bierstadt</vt:lpstr>
      <vt:lpstr>Calibri</vt:lpstr>
      <vt:lpstr>Cambria Math</vt:lpstr>
      <vt:lpstr>Google Sans Text</vt:lpstr>
      <vt:lpstr>Roboto</vt:lpstr>
      <vt:lpstr>Times New Roman</vt:lpstr>
      <vt:lpstr>Wingdings</vt:lpstr>
      <vt:lpstr>GestaltVTI</vt:lpstr>
      <vt:lpstr>A Quantum and Machine Learning-Based Framework for Secure Regional Communication  </vt:lpstr>
      <vt:lpstr>Table of Contents</vt:lpstr>
      <vt:lpstr>Introduction and Project Evaluation</vt:lpstr>
      <vt:lpstr>Fragility of Classical Cryptography</vt:lpstr>
      <vt:lpstr>Fragility of Classical Cryptography</vt:lpstr>
      <vt:lpstr>Quantum Foundations</vt:lpstr>
      <vt:lpstr>Quantum Foundations</vt:lpstr>
      <vt:lpstr>Quantum Foundations</vt:lpstr>
      <vt:lpstr>The Core Protocol: BB84</vt:lpstr>
      <vt:lpstr>The Core Protocol: BB84</vt:lpstr>
      <vt:lpstr>The Core Protocol: BB84</vt:lpstr>
      <vt:lpstr>The Core Protocol: BB84</vt:lpstr>
      <vt:lpstr>The Core Protocol: BB84</vt:lpstr>
      <vt:lpstr>Methodology</vt:lpstr>
      <vt:lpstr>System Architecture</vt:lpstr>
      <vt:lpstr>System Architecture</vt:lpstr>
      <vt:lpstr>System Architecture</vt:lpstr>
      <vt:lpstr>System Architecture</vt:lpstr>
      <vt:lpstr>Implementations</vt:lpstr>
      <vt:lpstr>Results</vt:lpstr>
      <vt:lpstr>Results</vt:lpstr>
      <vt:lpstr>Novelty of the Project </vt:lpstr>
      <vt:lpstr>Limitations, Sustainability and Ethical Concerns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Quantum and Machine Learning-Based Framework for Secure Regional Communication  </dc:title>
  <dc:creator>SOWMIK BARUA</dc:creator>
  <cp:lastModifiedBy>SOWMIK BARUA</cp:lastModifiedBy>
  <cp:revision>3</cp:revision>
  <dcterms:created xsi:type="dcterms:W3CDTF">2026-01-07T18:54:24Z</dcterms:created>
  <dcterms:modified xsi:type="dcterms:W3CDTF">2026-02-13T13:25:11Z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0x0101009900865FBDD04341A9DA38947C75CCCD</vt:lpwstr>
  </property>
</Properties>
</file>